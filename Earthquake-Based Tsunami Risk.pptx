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6" r:id="rId5"/>
    <p:sldId id="260" r:id="rId6"/>
    <p:sldId id="259" r:id="rId7"/>
    <p:sldId id="261" r:id="rId8"/>
    <p:sldId id="262" r:id="rId9"/>
    <p:sldId id="263" r:id="rId10"/>
    <p:sldId id="267" r:id="rId11"/>
    <p:sldId id="268" r:id="rId12"/>
    <p:sldId id="265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97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1268B-8AC2-4239-8FAF-7C144C210720}" type="datetimeFigureOut">
              <a:rPr lang="en-US"/>
              <a:t>9/23/2026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BA2C8-71FC-43D0-BD87-0547616971F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D8362-6D63-40AC-BAA9-90C3AE6D5875}" type="datetimeFigureOut">
              <a:rPr lang="en-US"/>
              <a:t>9/23/2026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39446-6953-447E-A4E3-E7CFBF87004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ater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ky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water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water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anchor="b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ky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anchor="b">
            <a:normAutofit/>
          </a:bodyPr>
          <a:lstStyle>
            <a:lvl1pPr algn="ctr">
              <a:defRPr sz="6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/>
              <a:t>9/23/2026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/>
              <a:t>9/23/2026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/>
              <a:t>9/23/2026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ky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/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/>
              <a:t>9/23/2026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/>
              <a:t>9/23/2026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/>
              <a:t>9/23/2026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ky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/>
            <a:endParaRPr/>
          </a:p>
        </p:txBody>
      </p:sp>
      <p:sp>
        <p:nvSpPr>
          <p:cNvPr id="8" name="water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water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water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5586B75A-687E-405C-8A0B-8D00578BA2C3}" type="datetime1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9882"/>
            <a:ext cx="11932170" cy="3005528"/>
          </a:xfrm>
        </p:spPr>
        <p:txBody>
          <a:bodyPr/>
          <a:lstStyle/>
          <a:p>
            <a:r>
              <a:rPr lang="en-US" dirty="0"/>
              <a:t>Earthquake-Based Tsunami Risk</a:t>
            </a:r>
            <a:br>
              <a:rPr lang="en-US" dirty="0"/>
            </a:br>
            <a:r>
              <a:rPr lang="en-US" dirty="0"/>
              <a:t>Prediction System Using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039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0850879" cy="61206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B9C556-F405-7C29-6BF4-4DCDAAB859F6}"/>
              </a:ext>
            </a:extLst>
          </p:cNvPr>
          <p:cNvSpPr/>
          <p:nvPr/>
        </p:nvSpPr>
        <p:spPr>
          <a:xfrm>
            <a:off x="118922" y="705370"/>
            <a:ext cx="5672278" cy="2630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accent2">
                  <a:lumMod val="50000"/>
                </a:schemeClr>
              </a:solidFill>
              <a:latin typeface="Calibri"/>
            </a:endParaRPr>
          </a:p>
          <a:p>
            <a:pPr algn="ctr"/>
            <a:endParaRPr lang="en-US" sz="2000" dirty="0">
              <a:solidFill>
                <a:schemeClr val="accent2">
                  <a:lumMod val="50000"/>
                </a:schemeClr>
              </a:solidFill>
              <a:latin typeface="Calibri"/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Underwater earthquakes with suitable magnitude and depth can generate destructive tsunamis. Rapid assessment of seismic parameters is essential for timely risk identification.</a:t>
            </a:r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E69D5D-781B-9375-8F23-06233EC6B0EB}"/>
              </a:ext>
            </a:extLst>
          </p:cNvPr>
          <p:cNvSpPr/>
          <p:nvPr/>
        </p:nvSpPr>
        <p:spPr>
          <a:xfrm>
            <a:off x="6400801" y="3429000"/>
            <a:ext cx="5672277" cy="2630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Develops a supervised binary classification system trained on real earthquake data (1995–2023) to predict whether an earthquake is associated with a tsunami. Output: tsunami = 0 or tsunami = 1.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B1FE2-B26F-8868-37EA-078DE140A530}"/>
              </a:ext>
            </a:extLst>
          </p:cNvPr>
          <p:cNvSpPr/>
          <p:nvPr/>
        </p:nvSpPr>
        <p:spPr>
          <a:xfrm>
            <a:off x="118922" y="3429000"/>
            <a:ext cx="5672278" cy="2630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ML models can learn complex non-linear patterns from historical earthquake records and produce fast, consistent binary risk classifications.</a:t>
            </a:r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97CD45-848B-EA5F-E32B-F21E10C34D1F}"/>
              </a:ext>
            </a:extLst>
          </p:cNvPr>
          <p:cNvSpPr/>
          <p:nvPr/>
        </p:nvSpPr>
        <p:spPr>
          <a:xfrm>
            <a:off x="6400801" y="705370"/>
            <a:ext cx="5672278" cy="2630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Traditional monitoring relies on manual expert review of seismic bulletins. This introduces delays and inconsistency in high-stakes scenarios.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D44BC-19EB-E0EB-EA1D-D9F0EDBA253B}"/>
              </a:ext>
            </a:extLst>
          </p:cNvPr>
          <p:cNvSpPr/>
          <p:nvPr/>
        </p:nvSpPr>
        <p:spPr>
          <a:xfrm>
            <a:off x="118921" y="705369"/>
            <a:ext cx="5672278" cy="478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🌏 Earthquakes &amp; Tsunamis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EBDEF6-0F6A-2A57-BD85-C728746F622B}"/>
              </a:ext>
            </a:extLst>
          </p:cNvPr>
          <p:cNvSpPr/>
          <p:nvPr/>
        </p:nvSpPr>
        <p:spPr>
          <a:xfrm>
            <a:off x="6400801" y="3428999"/>
            <a:ext cx="5672277" cy="478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>
              <a:solidFill>
                <a:srgbClr val="FFFFFF"/>
              </a:solidFill>
            </a:endParaRPr>
          </a:p>
          <a:p>
            <a:r>
              <a:rPr lang="en-US" sz="2000" b="1" dirty="0">
                <a:solidFill>
                  <a:srgbClr val="FFFFFF"/>
                </a:solidFill>
              </a:rPr>
              <a:t>🎯  This Project</a:t>
            </a: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3BA03C-441D-66EF-8505-78B334A75A4B}"/>
              </a:ext>
            </a:extLst>
          </p:cNvPr>
          <p:cNvSpPr/>
          <p:nvPr/>
        </p:nvSpPr>
        <p:spPr>
          <a:xfrm>
            <a:off x="118922" y="3428999"/>
            <a:ext cx="5672277" cy="5721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🤖  Machine Learning Advantage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BEF2A9-6BF8-A18E-4FB9-5D75A33953D8}"/>
              </a:ext>
            </a:extLst>
          </p:cNvPr>
          <p:cNvSpPr/>
          <p:nvPr/>
        </p:nvSpPr>
        <p:spPr>
          <a:xfrm>
            <a:off x="6400800" y="698291"/>
            <a:ext cx="5672278" cy="478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⚡  Limitation of Manual Methods</a:t>
            </a:r>
          </a:p>
        </p:txBody>
      </p:sp>
    </p:spTree>
    <p:extLst>
      <p:ext uri="{BB962C8B-B14F-4D97-AF65-F5344CB8AC3E}">
        <p14:creationId xmlns:p14="http://schemas.microsoft.com/office/powerpoint/2010/main" val="332745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17" y="0"/>
            <a:ext cx="9509759" cy="1088136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r>
              <a:rPr lang="en-US" sz="2200" dirty="0"/>
              <a:t>Supervised Binary Classification of Tsunami Risk from Earthquake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7AC11-AC2C-B730-1A3D-1122343A7B95}"/>
              </a:ext>
            </a:extLst>
          </p:cNvPr>
          <p:cNvSpPr/>
          <p:nvPr/>
        </p:nvSpPr>
        <p:spPr>
          <a:xfrm>
            <a:off x="445955" y="1271427"/>
            <a:ext cx="11542426" cy="14090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Given a set of seismic, geographic, station, and event metadata parameters for an earthquake, determine whether that earthquake event is associated with a tsunami occurrence.</a:t>
            </a: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8B1B50-6531-804E-B005-D1EF24A3CC5E}"/>
              </a:ext>
            </a:extLst>
          </p:cNvPr>
          <p:cNvSpPr/>
          <p:nvPr/>
        </p:nvSpPr>
        <p:spPr>
          <a:xfrm>
            <a:off x="126917" y="2766694"/>
            <a:ext cx="5762528" cy="31094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A8246B-9700-F4F3-EED8-0CA1736B15CE}"/>
              </a:ext>
            </a:extLst>
          </p:cNvPr>
          <p:cNvSpPr/>
          <p:nvPr/>
        </p:nvSpPr>
        <p:spPr>
          <a:xfrm>
            <a:off x="6096001" y="2863794"/>
            <a:ext cx="5809564" cy="3012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A700C4-01B9-7D16-CC5D-9B9BC2AED406}"/>
              </a:ext>
            </a:extLst>
          </p:cNvPr>
          <p:cNvSpPr/>
          <p:nvPr/>
        </p:nvSpPr>
        <p:spPr>
          <a:xfrm>
            <a:off x="126917" y="1271427"/>
            <a:ext cx="319038" cy="140907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ED09D9-8FCB-547B-CA2C-63A53461DB19}"/>
              </a:ext>
            </a:extLst>
          </p:cNvPr>
          <p:cNvSpPr txBox="1"/>
          <p:nvPr/>
        </p:nvSpPr>
        <p:spPr>
          <a:xfrm>
            <a:off x="286435" y="2882869"/>
            <a:ext cx="5396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Target Variable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0D4CD5-EB18-F4CE-26F0-8CC6B3EF6943}"/>
              </a:ext>
            </a:extLst>
          </p:cNvPr>
          <p:cNvSpPr txBox="1"/>
          <p:nvPr/>
        </p:nvSpPr>
        <p:spPr>
          <a:xfrm>
            <a:off x="6096000" y="2882869"/>
            <a:ext cx="5396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Input Features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44DD84-B119-26A0-B3F9-70E89FF374D9}"/>
              </a:ext>
            </a:extLst>
          </p:cNvPr>
          <p:cNvSpPr txBox="1"/>
          <p:nvPr/>
        </p:nvSpPr>
        <p:spPr>
          <a:xfrm>
            <a:off x="286435" y="3770026"/>
            <a:ext cx="5809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Tsunami = 0      </a:t>
            </a:r>
            <a:r>
              <a:rPr lang="en-US" sz="2400" dirty="0"/>
              <a:t>-&gt; No Tsunami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Tsunami = 1       </a:t>
            </a:r>
            <a:r>
              <a:rPr lang="en-US" sz="2400" dirty="0"/>
              <a:t>-&gt; Tsunami Occurrence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EF4E8B-318E-44C1-C457-52B0F04591FD}"/>
              </a:ext>
            </a:extLst>
          </p:cNvPr>
          <p:cNvSpPr txBox="1"/>
          <p:nvPr/>
        </p:nvSpPr>
        <p:spPr>
          <a:xfrm>
            <a:off x="6217168" y="3594676"/>
            <a:ext cx="17621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Magnitude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cdi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mmi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nst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dmin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gap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A913C6-486F-B69C-A9B5-5F0273351891}"/>
              </a:ext>
            </a:extLst>
          </p:cNvPr>
          <p:cNvSpPr txBox="1"/>
          <p:nvPr/>
        </p:nvSpPr>
        <p:spPr>
          <a:xfrm>
            <a:off x="9200834" y="3730213"/>
            <a:ext cx="17621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depth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Mag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net </a:t>
            </a:r>
          </a:p>
        </p:txBody>
      </p:sp>
    </p:spTree>
    <p:extLst>
      <p:ext uri="{BB962C8B-B14F-4D97-AF65-F5344CB8AC3E}">
        <p14:creationId xmlns:p14="http://schemas.microsoft.com/office/powerpoint/2010/main" val="257868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EA754B5-C893-25BC-8F72-0DC8F80F24F8}"/>
              </a:ext>
            </a:extLst>
          </p:cNvPr>
          <p:cNvSpPr txBox="1"/>
          <p:nvPr/>
        </p:nvSpPr>
        <p:spPr>
          <a:xfrm>
            <a:off x="0" y="0"/>
            <a:ext cx="1205209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Project Objectives</a:t>
            </a:r>
          </a:p>
          <a:p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End-to-End ML Workflow for Tsunami Risk Classification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C3DEBA-EE7A-C7E0-4CBC-45EF5733A72F}"/>
              </a:ext>
            </a:extLst>
          </p:cNvPr>
          <p:cNvSpPr/>
          <p:nvPr/>
        </p:nvSpPr>
        <p:spPr>
          <a:xfrm>
            <a:off x="320040" y="1093720"/>
            <a:ext cx="5715000" cy="872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3573CB-3F71-80B2-1603-8994780BD2B8}"/>
              </a:ext>
            </a:extLst>
          </p:cNvPr>
          <p:cNvSpPr/>
          <p:nvPr/>
        </p:nvSpPr>
        <p:spPr>
          <a:xfrm>
            <a:off x="320040" y="1097280"/>
            <a:ext cx="45720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0AA0F2-20E6-2AEA-AAE0-F671F8B23003}"/>
              </a:ext>
            </a:extLst>
          </p:cNvPr>
          <p:cNvSpPr txBox="1"/>
          <p:nvPr/>
        </p:nvSpPr>
        <p:spPr>
          <a:xfrm>
            <a:off x="374904" y="129844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FB8C5A-D1B4-332E-BA19-A86B9E93D70D}"/>
              </a:ext>
            </a:extLst>
          </p:cNvPr>
          <p:cNvSpPr txBox="1"/>
          <p:nvPr/>
        </p:nvSpPr>
        <p:spPr>
          <a:xfrm>
            <a:off x="914400" y="113385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Combine earthquake datasets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95785E-CFCA-741B-BCED-8685D0E118D7}"/>
              </a:ext>
            </a:extLst>
          </p:cNvPr>
          <p:cNvSpPr txBox="1"/>
          <p:nvPr/>
        </p:nvSpPr>
        <p:spPr>
          <a:xfrm>
            <a:off x="914400" y="1536192"/>
            <a:ext cx="5038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Merge earthquake_1995-2023.csv records 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into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a unified dataset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FB9EB0-776F-46DD-320F-C60D92D6C3E2}"/>
              </a:ext>
            </a:extLst>
          </p:cNvPr>
          <p:cNvSpPr/>
          <p:nvPr/>
        </p:nvSpPr>
        <p:spPr>
          <a:xfrm>
            <a:off x="320040" y="210312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9EE25A-1DFC-E129-BDE5-419AB8653B58}"/>
              </a:ext>
            </a:extLst>
          </p:cNvPr>
          <p:cNvSpPr/>
          <p:nvPr/>
        </p:nvSpPr>
        <p:spPr>
          <a:xfrm>
            <a:off x="320040" y="2103120"/>
            <a:ext cx="4572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92027A-0BED-6479-9E1C-5EF612930981}"/>
              </a:ext>
            </a:extLst>
          </p:cNvPr>
          <p:cNvSpPr txBox="1"/>
          <p:nvPr/>
        </p:nvSpPr>
        <p:spPr>
          <a:xfrm>
            <a:off x="374904" y="230428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030BCA-CA20-4120-5F0F-CD37BFACE67A}"/>
              </a:ext>
            </a:extLst>
          </p:cNvPr>
          <p:cNvSpPr txBox="1"/>
          <p:nvPr/>
        </p:nvSpPr>
        <p:spPr>
          <a:xfrm>
            <a:off x="914400" y="213969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Clean and preprocess data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E6B3B7-65BB-C1FC-9F98-5A8BC268D71A}"/>
              </a:ext>
            </a:extLst>
          </p:cNvPr>
          <p:cNvSpPr txBox="1"/>
          <p:nvPr/>
        </p:nvSpPr>
        <p:spPr>
          <a:xfrm>
            <a:off x="914400" y="238457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Remove duplicates, handle missing values, select relevant features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8C4122-C273-C68C-D3BB-337C20A4E8B0}"/>
              </a:ext>
            </a:extLst>
          </p:cNvPr>
          <p:cNvSpPr/>
          <p:nvPr/>
        </p:nvSpPr>
        <p:spPr>
          <a:xfrm>
            <a:off x="320040" y="310896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9F427E-0DAC-98BE-A015-A0419A3A766E}"/>
              </a:ext>
            </a:extLst>
          </p:cNvPr>
          <p:cNvSpPr/>
          <p:nvPr/>
        </p:nvSpPr>
        <p:spPr>
          <a:xfrm>
            <a:off x="320040" y="3108960"/>
            <a:ext cx="4572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221139-6102-CFA3-34A8-A3D5E791AB82}"/>
              </a:ext>
            </a:extLst>
          </p:cNvPr>
          <p:cNvSpPr txBox="1"/>
          <p:nvPr/>
        </p:nvSpPr>
        <p:spPr>
          <a:xfrm>
            <a:off x="374904" y="331012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150322-6F04-E59F-BE66-57904095C4FE}"/>
              </a:ext>
            </a:extLst>
          </p:cNvPr>
          <p:cNvSpPr txBox="1"/>
          <p:nvPr/>
        </p:nvSpPr>
        <p:spPr>
          <a:xfrm>
            <a:off x="896112" y="314553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Exploratory Data Analysis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03A71-61E1-E8A7-7171-AF585D173F69}"/>
              </a:ext>
            </a:extLst>
          </p:cNvPr>
          <p:cNvSpPr txBox="1"/>
          <p:nvPr/>
        </p:nvSpPr>
        <p:spPr>
          <a:xfrm>
            <a:off x="914400" y="354787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 err="1">
                <a:solidFill>
                  <a:schemeClr val="accent2">
                    <a:lumMod val="50000"/>
                  </a:schemeClr>
                </a:solidFill>
                <a:latin typeface="Calibri"/>
              </a:rPr>
              <a:t>Visualise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magnitude, depth, significance, and class distribution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0CF263-7E84-5FD3-FFDC-A65FFCF3EA1A}"/>
              </a:ext>
            </a:extLst>
          </p:cNvPr>
          <p:cNvSpPr/>
          <p:nvPr/>
        </p:nvSpPr>
        <p:spPr>
          <a:xfrm>
            <a:off x="320040" y="411480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8CC4488-553E-C05B-AF7F-1C39C85189C9}"/>
              </a:ext>
            </a:extLst>
          </p:cNvPr>
          <p:cNvSpPr/>
          <p:nvPr/>
        </p:nvSpPr>
        <p:spPr>
          <a:xfrm>
            <a:off x="320040" y="4114800"/>
            <a:ext cx="4572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E91749-3DC5-2C75-DD67-36D252A335CC}"/>
              </a:ext>
            </a:extLst>
          </p:cNvPr>
          <p:cNvSpPr txBox="1"/>
          <p:nvPr/>
        </p:nvSpPr>
        <p:spPr>
          <a:xfrm>
            <a:off x="374904" y="43159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CD5B02-D3BD-9B88-29A2-1664F550BB21}"/>
              </a:ext>
            </a:extLst>
          </p:cNvPr>
          <p:cNvSpPr txBox="1"/>
          <p:nvPr/>
        </p:nvSpPr>
        <p:spPr>
          <a:xfrm>
            <a:off x="914400" y="415137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Handle missing values &amp; outliers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0B43B2-82ED-A2F2-F1C3-DEEF49FDD87F}"/>
              </a:ext>
            </a:extLst>
          </p:cNvPr>
          <p:cNvSpPr txBox="1"/>
          <p:nvPr/>
        </p:nvSpPr>
        <p:spPr>
          <a:xfrm>
            <a:off x="896112" y="4457776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Fill </a:t>
            </a:r>
            <a:r>
              <a:rPr sz="1400" b="0" i="0" dirty="0" err="1">
                <a:solidFill>
                  <a:schemeClr val="accent2">
                    <a:lumMod val="50000"/>
                  </a:schemeClr>
                </a:solidFill>
                <a:latin typeface="Calibri"/>
              </a:rPr>
              <a:t>NaN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with medians/modes; replace Z-score outliers (|z|&gt;3) with median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E9240FD-C5CE-A2E0-A680-D68C83AB15CA}"/>
              </a:ext>
            </a:extLst>
          </p:cNvPr>
          <p:cNvSpPr/>
          <p:nvPr/>
        </p:nvSpPr>
        <p:spPr>
          <a:xfrm>
            <a:off x="320040" y="512064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87A2D56-196E-43D7-F2FC-8654002AB125}"/>
              </a:ext>
            </a:extLst>
          </p:cNvPr>
          <p:cNvSpPr/>
          <p:nvPr/>
        </p:nvSpPr>
        <p:spPr>
          <a:xfrm>
            <a:off x="320040" y="5120640"/>
            <a:ext cx="45720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F4F3F3-BB83-812A-60F1-4E5BA4FF250A}"/>
              </a:ext>
            </a:extLst>
          </p:cNvPr>
          <p:cNvSpPr txBox="1"/>
          <p:nvPr/>
        </p:nvSpPr>
        <p:spPr>
          <a:xfrm>
            <a:off x="374904" y="532180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13B9CE-4953-515D-3883-7F070B5DC3E0}"/>
              </a:ext>
            </a:extLst>
          </p:cNvPr>
          <p:cNvSpPr txBox="1"/>
          <p:nvPr/>
        </p:nvSpPr>
        <p:spPr>
          <a:xfrm>
            <a:off x="914400" y="515721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Encode categorical variables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6AFB00-5F32-CA60-CB2E-59AB7C601DF1}"/>
              </a:ext>
            </a:extLst>
          </p:cNvPr>
          <p:cNvSpPr txBox="1"/>
          <p:nvPr/>
        </p:nvSpPr>
        <p:spPr>
          <a:xfrm>
            <a:off x="914400" y="555955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Apply Label</a:t>
            </a:r>
            <a:r>
              <a:rPr lang="en-US"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Encoder to alert, mag</a:t>
            </a:r>
            <a:r>
              <a:rPr lang="en-US"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Type, and net features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A66711E-D19E-D106-F8D4-7D29976B024E}"/>
              </a:ext>
            </a:extLst>
          </p:cNvPr>
          <p:cNvSpPr/>
          <p:nvPr/>
        </p:nvSpPr>
        <p:spPr>
          <a:xfrm>
            <a:off x="6080760" y="109728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5B59704-40D5-E36F-63D9-BBB041431DD0}"/>
              </a:ext>
            </a:extLst>
          </p:cNvPr>
          <p:cNvSpPr/>
          <p:nvPr/>
        </p:nvSpPr>
        <p:spPr>
          <a:xfrm>
            <a:off x="6080760" y="1097280"/>
            <a:ext cx="45720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020FCA-451B-074C-6AA0-3C52849F46E1}"/>
              </a:ext>
            </a:extLst>
          </p:cNvPr>
          <p:cNvSpPr txBox="1"/>
          <p:nvPr/>
        </p:nvSpPr>
        <p:spPr>
          <a:xfrm>
            <a:off x="6135624" y="129844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0D0EEA-6B96-E17D-108B-3AD127052803}"/>
              </a:ext>
            </a:extLst>
          </p:cNvPr>
          <p:cNvSpPr txBox="1"/>
          <p:nvPr/>
        </p:nvSpPr>
        <p:spPr>
          <a:xfrm>
            <a:off x="6675120" y="113385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Address class imbalance with SMOTE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9CE599-36BC-7978-E744-3B6C2A2240EF}"/>
              </a:ext>
            </a:extLst>
          </p:cNvPr>
          <p:cNvSpPr txBox="1"/>
          <p:nvPr/>
        </p:nvSpPr>
        <p:spPr>
          <a:xfrm>
            <a:off x="6675120" y="1427871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Apply SMOTE on training set only to balance tsunami vs non-tsunami samples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94114FD-C30B-AEE8-F35D-A7014B49E720}"/>
              </a:ext>
            </a:extLst>
          </p:cNvPr>
          <p:cNvSpPr/>
          <p:nvPr/>
        </p:nvSpPr>
        <p:spPr>
          <a:xfrm>
            <a:off x="6080760" y="210312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0C42487-485E-2CFE-8F08-8251C01A0D92}"/>
              </a:ext>
            </a:extLst>
          </p:cNvPr>
          <p:cNvSpPr/>
          <p:nvPr/>
        </p:nvSpPr>
        <p:spPr>
          <a:xfrm>
            <a:off x="6080760" y="2103120"/>
            <a:ext cx="4572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3FBE556-E6EF-FE0E-2716-E753BCDD2759}"/>
              </a:ext>
            </a:extLst>
          </p:cNvPr>
          <p:cNvSpPr txBox="1"/>
          <p:nvPr/>
        </p:nvSpPr>
        <p:spPr>
          <a:xfrm>
            <a:off x="6135624" y="230428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382AFD-714E-E342-7D71-C7094C7AA8DA}"/>
              </a:ext>
            </a:extLst>
          </p:cNvPr>
          <p:cNvSpPr txBox="1"/>
          <p:nvPr/>
        </p:nvSpPr>
        <p:spPr>
          <a:xfrm>
            <a:off x="6675120" y="213969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Train ML classifiers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DB3B7D1-83BB-E644-78E2-F5801C8CAC09}"/>
              </a:ext>
            </a:extLst>
          </p:cNvPr>
          <p:cNvSpPr txBox="1"/>
          <p:nvPr/>
        </p:nvSpPr>
        <p:spPr>
          <a:xfrm>
            <a:off x="6675120" y="254203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Train Decision Tree, Random Forest, and </a:t>
            </a:r>
            <a:r>
              <a:rPr sz="1400" b="0" i="0" dirty="0" err="1">
                <a:solidFill>
                  <a:schemeClr val="accent2">
                    <a:lumMod val="50000"/>
                  </a:schemeClr>
                </a:solidFill>
                <a:latin typeface="Calibri"/>
              </a:rPr>
              <a:t>XGBoost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classifiers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C6BE648-413E-77CD-F6CF-9EFCDE647047}"/>
              </a:ext>
            </a:extLst>
          </p:cNvPr>
          <p:cNvSpPr/>
          <p:nvPr/>
        </p:nvSpPr>
        <p:spPr>
          <a:xfrm>
            <a:off x="6080760" y="310896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E011E7B-418B-2603-17BE-A9C4949511BE}"/>
              </a:ext>
            </a:extLst>
          </p:cNvPr>
          <p:cNvSpPr/>
          <p:nvPr/>
        </p:nvSpPr>
        <p:spPr>
          <a:xfrm>
            <a:off x="6080760" y="3108960"/>
            <a:ext cx="4572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CB48CFB-F63E-CDFB-ABD7-CB369BDCC272}"/>
              </a:ext>
            </a:extLst>
          </p:cNvPr>
          <p:cNvSpPr txBox="1"/>
          <p:nvPr/>
        </p:nvSpPr>
        <p:spPr>
          <a:xfrm>
            <a:off x="6135624" y="331012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63063F5-C031-314B-422B-45087CA66664}"/>
              </a:ext>
            </a:extLst>
          </p:cNvPr>
          <p:cNvSpPr txBox="1"/>
          <p:nvPr/>
        </p:nvSpPr>
        <p:spPr>
          <a:xfrm>
            <a:off x="6675120" y="314553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Hyperparameter tuning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F1E72D7-ECDB-88A5-1052-7163D2FF7088}"/>
              </a:ext>
            </a:extLst>
          </p:cNvPr>
          <p:cNvSpPr txBox="1"/>
          <p:nvPr/>
        </p:nvSpPr>
        <p:spPr>
          <a:xfrm>
            <a:off x="6675120" y="354787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Run </a:t>
            </a:r>
            <a:r>
              <a:rPr lang="en-US"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Randomized Search CV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(20 iterations, 5-fold CV) per model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AAC7EF3-53D9-DE3E-AF9E-279FA6034C36}"/>
              </a:ext>
            </a:extLst>
          </p:cNvPr>
          <p:cNvSpPr/>
          <p:nvPr/>
        </p:nvSpPr>
        <p:spPr>
          <a:xfrm>
            <a:off x="6080760" y="411480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5325E8E-BC93-18AE-A8D8-CFB9E49FB7AB}"/>
              </a:ext>
            </a:extLst>
          </p:cNvPr>
          <p:cNvSpPr/>
          <p:nvPr/>
        </p:nvSpPr>
        <p:spPr>
          <a:xfrm>
            <a:off x="6080760" y="4114800"/>
            <a:ext cx="4572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D8F8BBD-79C1-1CDC-34D8-3D750602984C}"/>
              </a:ext>
            </a:extLst>
          </p:cNvPr>
          <p:cNvSpPr txBox="1"/>
          <p:nvPr/>
        </p:nvSpPr>
        <p:spPr>
          <a:xfrm>
            <a:off x="6135624" y="43159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1E4B3C9-A29C-DBF0-1E84-EACAE4987BC5}"/>
              </a:ext>
            </a:extLst>
          </p:cNvPr>
          <p:cNvSpPr txBox="1"/>
          <p:nvPr/>
        </p:nvSpPr>
        <p:spPr>
          <a:xfrm>
            <a:off x="6675120" y="415137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Select best-performing model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56AC21B-C3C5-18AF-1CA0-30897C53A01D}"/>
              </a:ext>
            </a:extLst>
          </p:cNvPr>
          <p:cNvSpPr txBox="1"/>
          <p:nvPr/>
        </p:nvSpPr>
        <p:spPr>
          <a:xfrm>
            <a:off x="6675120" y="455371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Choose model with highest 5-fold cross-validation accuracy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5979D78-57CF-4ADC-2D33-9A52B708FE14}"/>
              </a:ext>
            </a:extLst>
          </p:cNvPr>
          <p:cNvSpPr/>
          <p:nvPr/>
        </p:nvSpPr>
        <p:spPr>
          <a:xfrm>
            <a:off x="6080760" y="5120640"/>
            <a:ext cx="5715000" cy="868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C1DA834-CB67-17A8-BD0B-C1A4E479AB3F}"/>
              </a:ext>
            </a:extLst>
          </p:cNvPr>
          <p:cNvSpPr/>
          <p:nvPr/>
        </p:nvSpPr>
        <p:spPr>
          <a:xfrm>
            <a:off x="6080760" y="5120640"/>
            <a:ext cx="45720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0DF6EE3-3C55-173D-7107-EB8004FE1C09}"/>
              </a:ext>
            </a:extLst>
          </p:cNvPr>
          <p:cNvSpPr txBox="1"/>
          <p:nvPr/>
        </p:nvSpPr>
        <p:spPr>
          <a:xfrm>
            <a:off x="6135624" y="532180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6925545-06D3-E0AD-E9B8-0955EB171047}"/>
              </a:ext>
            </a:extLst>
          </p:cNvPr>
          <p:cNvSpPr txBox="1"/>
          <p:nvPr/>
        </p:nvSpPr>
        <p:spPr>
          <a:xfrm>
            <a:off x="6675120" y="515721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Build prediction interface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3B8B9A2-92C2-FC67-5F3D-450268C9E885}"/>
              </a:ext>
            </a:extLst>
          </p:cNvPr>
          <p:cNvSpPr txBox="1"/>
          <p:nvPr/>
        </p:nvSpPr>
        <p:spPr>
          <a:xfrm>
            <a:off x="6675120" y="5504688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Save model + encoders; serve predictions via Fast</a:t>
            </a:r>
            <a:r>
              <a:rPr lang="en-US"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</a:t>
            </a:r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API +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6188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6155"/>
            <a:ext cx="9509759" cy="1289155"/>
          </a:xfrm>
        </p:spPr>
        <p:txBody>
          <a:bodyPr>
            <a:normAutofit/>
          </a:bodyPr>
          <a:lstStyle/>
          <a:p>
            <a:r>
              <a:rPr lang="en-US" dirty="0"/>
              <a:t>Dataset &amp; Features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23E8BD6-2361-64C3-72B8-F88E2206B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4736178"/>
              </p:ext>
            </p:extLst>
          </p:nvPr>
        </p:nvGraphicFramePr>
        <p:xfrm>
          <a:off x="71562" y="763325"/>
          <a:ext cx="6024438" cy="530671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2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245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j-lt"/>
                        </a:rPr>
                        <a:t>Numerical features(10)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magnitude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mmi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sig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813040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nst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729517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dmin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510269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259245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325322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latitude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37650"/>
                  </a:ext>
                </a:extLst>
              </a:tr>
              <a:tr h="4939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longitude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498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35F1B0B-207A-5CA8-F47B-F1157A56970E}"/>
              </a:ext>
            </a:extLst>
          </p:cNvPr>
          <p:cNvSpPr txBox="1"/>
          <p:nvPr/>
        </p:nvSpPr>
        <p:spPr>
          <a:xfrm>
            <a:off x="1524000" y="1202701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Richter / Moment magnitude of the event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7F1E4E-1238-CD56-D28D-9C8C9C656E4D}"/>
              </a:ext>
            </a:extLst>
          </p:cNvPr>
          <p:cNvSpPr txBox="1"/>
          <p:nvPr/>
        </p:nvSpPr>
        <p:spPr>
          <a:xfrm>
            <a:off x="1524000" y="2144643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Modified Mercalli Intensity (instrumental)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72F4C6-7243-AD05-E2EF-A1EF3577BEFB}"/>
              </a:ext>
            </a:extLst>
          </p:cNvPr>
          <p:cNvSpPr txBox="1"/>
          <p:nvPr/>
        </p:nvSpPr>
        <p:spPr>
          <a:xfrm>
            <a:off x="1524000" y="2678229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USGS significance score (0–1000+)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7AFC4-3AAD-FF43-C420-1AEFABECE550}"/>
              </a:ext>
            </a:extLst>
          </p:cNvPr>
          <p:cNvSpPr txBox="1"/>
          <p:nvPr/>
        </p:nvSpPr>
        <p:spPr>
          <a:xfrm>
            <a:off x="1524000" y="3173885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Number of seismic stations used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12BDB8-15B6-CCC7-064F-9F7ACB90A4C2}"/>
              </a:ext>
            </a:extLst>
          </p:cNvPr>
          <p:cNvSpPr txBox="1"/>
          <p:nvPr/>
        </p:nvSpPr>
        <p:spPr>
          <a:xfrm>
            <a:off x="1524000" y="3633561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Min distance to nearest station (degrees)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51CD45-A032-7509-CA7A-BEF2C6C02D1E}"/>
              </a:ext>
            </a:extLst>
          </p:cNvPr>
          <p:cNvSpPr txBox="1"/>
          <p:nvPr/>
        </p:nvSpPr>
        <p:spPr>
          <a:xfrm>
            <a:off x="1524000" y="4140856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Largest azimuthal gap between stations (°)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B156AC-AB0E-9AF0-8DA9-B0F5CE3C9960}"/>
              </a:ext>
            </a:extLst>
          </p:cNvPr>
          <p:cNvSpPr txBox="1"/>
          <p:nvPr/>
        </p:nvSpPr>
        <p:spPr>
          <a:xfrm>
            <a:off x="1524000" y="5132168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Epicenter latitude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91EC38-C1EA-9D16-1197-ADA6E87BBE5A}"/>
              </a:ext>
            </a:extLst>
          </p:cNvPr>
          <p:cNvSpPr txBox="1"/>
          <p:nvPr/>
        </p:nvSpPr>
        <p:spPr>
          <a:xfrm>
            <a:off x="1524000" y="4575721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Depth of hypocenter (km)</a:t>
            </a:r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ADBAC8-46F6-1930-BA18-2D3865107C36}"/>
              </a:ext>
            </a:extLst>
          </p:cNvPr>
          <p:cNvSpPr txBox="1"/>
          <p:nvPr/>
        </p:nvSpPr>
        <p:spPr>
          <a:xfrm>
            <a:off x="1524000" y="5623341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Epicenter longitude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E4DC91-0B92-4995-DB2B-5B8EF22F8F19}"/>
              </a:ext>
            </a:extLst>
          </p:cNvPr>
          <p:cNvSpPr txBox="1"/>
          <p:nvPr/>
        </p:nvSpPr>
        <p:spPr>
          <a:xfrm>
            <a:off x="1524000" y="1704390"/>
            <a:ext cx="487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Community Internet Intensity (felt reports)</a:t>
            </a:r>
          </a:p>
          <a:p>
            <a:endParaRPr lang="en-US" dirty="0"/>
          </a:p>
        </p:txBody>
      </p:sp>
      <p:graphicFrame>
        <p:nvGraphicFramePr>
          <p:cNvPr id="32" name="Content Placeholder 31">
            <a:extLst>
              <a:ext uri="{FF2B5EF4-FFF2-40B4-BE49-F238E27FC236}">
                <a16:creationId xmlns:a16="http://schemas.microsoft.com/office/drawing/2014/main" id="{858CBC33-E088-957B-2C78-0A0BE14D536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85266612"/>
              </p:ext>
            </p:extLst>
          </p:nvPr>
        </p:nvGraphicFramePr>
        <p:xfrm>
          <a:off x="6400800" y="763325"/>
          <a:ext cx="5646905" cy="235913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646905">
                  <a:extLst>
                    <a:ext uri="{9D8B030D-6E8A-4147-A177-3AD203B41FA5}">
                      <a16:colId xmlns:a16="http://schemas.microsoft.com/office/drawing/2014/main" val="2057423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Categorical features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14320491"/>
                  </a:ext>
                </a:extLst>
              </a:tr>
              <a:tr h="660147">
                <a:tc>
                  <a:txBody>
                    <a:bodyPr/>
                    <a:lstStyle/>
                    <a:p>
                      <a:r>
                        <a:rPr lang="en-US" dirty="0"/>
                        <a:t>alert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84483219"/>
                  </a:ext>
                </a:extLst>
              </a:tr>
              <a:tr h="783996">
                <a:tc>
                  <a:txBody>
                    <a:bodyPr/>
                    <a:lstStyle/>
                    <a:p>
                      <a:r>
                        <a:rPr lang="en-US" dirty="0"/>
                        <a:t>mag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90901712"/>
                  </a:ext>
                </a:extLst>
              </a:tr>
              <a:tr h="544154">
                <a:tc>
                  <a:txBody>
                    <a:bodyPr/>
                    <a:lstStyle/>
                    <a:p>
                      <a:r>
                        <a:rPr lang="en-US" dirty="0"/>
                        <a:t>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56188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6F37FE1-FA15-10BA-C2BF-EAA71A82E722}"/>
              </a:ext>
            </a:extLst>
          </p:cNvPr>
          <p:cNvSpPr txBox="1"/>
          <p:nvPr/>
        </p:nvSpPr>
        <p:spPr>
          <a:xfrm>
            <a:off x="7649155" y="1202701"/>
            <a:ext cx="4208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Alert level (green / yellow / orange / red / none)</a:t>
            </a:r>
          </a:p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D67641-2041-8624-7C3B-31833B51279B}"/>
              </a:ext>
            </a:extLst>
          </p:cNvPr>
          <p:cNvSpPr txBox="1"/>
          <p:nvPr/>
        </p:nvSpPr>
        <p:spPr>
          <a:xfrm>
            <a:off x="7649154" y="1907057"/>
            <a:ext cx="322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DE0A5F-9E2D-329E-8393-F9D8E68B55E1}"/>
              </a:ext>
            </a:extLst>
          </p:cNvPr>
          <p:cNvSpPr txBox="1"/>
          <p:nvPr/>
        </p:nvSpPr>
        <p:spPr>
          <a:xfrm>
            <a:off x="7649155" y="1889489"/>
            <a:ext cx="4208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Magnitude calculation method (e.g.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mww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, mb, ml, mw)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11C5FA-6F74-ED61-C1EC-6902A69BA2BF}"/>
              </a:ext>
            </a:extLst>
          </p:cNvPr>
          <p:cNvSpPr txBox="1"/>
          <p:nvPr/>
        </p:nvSpPr>
        <p:spPr>
          <a:xfrm>
            <a:off x="7649154" y="2698181"/>
            <a:ext cx="4208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Seismic network code (e.g. us,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ak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, ci, nc)</a:t>
            </a:r>
          </a:p>
        </p:txBody>
      </p:sp>
      <p:graphicFrame>
        <p:nvGraphicFramePr>
          <p:cNvPr id="41" name="Content Placeholder 31">
            <a:extLst>
              <a:ext uri="{FF2B5EF4-FFF2-40B4-BE49-F238E27FC236}">
                <a16:creationId xmlns:a16="http://schemas.microsoft.com/office/drawing/2014/main" id="{A13308CF-B668-F1A5-BB09-5B3106C5C7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0811016"/>
              </p:ext>
            </p:extLst>
          </p:nvPr>
        </p:nvGraphicFramePr>
        <p:xfrm>
          <a:off x="6374597" y="3474596"/>
          <a:ext cx="5646905" cy="13021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646905">
                  <a:extLst>
                    <a:ext uri="{9D8B030D-6E8A-4147-A177-3AD203B41FA5}">
                      <a16:colId xmlns:a16="http://schemas.microsoft.com/office/drawing/2014/main" val="2057423634"/>
                    </a:ext>
                  </a:extLst>
                </a:gridCol>
              </a:tblGrid>
              <a:tr h="35065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Target 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90901712"/>
                  </a:ext>
                </a:extLst>
              </a:tr>
              <a:tr h="9364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Tsunami            </a:t>
                      </a:r>
                      <a:r>
                        <a:rPr lang="en-US" sz="24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 = No Tsunami</a:t>
                      </a:r>
                      <a:r>
                        <a:rPr lang="en-US" b="1" dirty="0"/>
                        <a:t>    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1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= Tsunami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561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03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FE07AC8-CAEE-6AAB-C5CB-FF00F2593C99}"/>
              </a:ext>
            </a:extLst>
          </p:cNvPr>
          <p:cNvSpPr txBox="1"/>
          <p:nvPr/>
        </p:nvSpPr>
        <p:spPr>
          <a:xfrm>
            <a:off x="0" y="0"/>
            <a:ext cx="115873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Data Preprocessing Pipeline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81E84D-FEAE-B993-5CD2-F0A6E696E48E}"/>
              </a:ext>
            </a:extLst>
          </p:cNvPr>
          <p:cNvSpPr txBox="1"/>
          <p:nvPr/>
        </p:nvSpPr>
        <p:spPr>
          <a:xfrm>
            <a:off x="304800" y="98557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B82F6"/>
                </a:solidFill>
                <a:latin typeface="Calibri"/>
              </a:rPr>
              <a:t>📥 Load Dataset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215D6A-859D-772F-100F-A00612E3D864}"/>
              </a:ext>
            </a:extLst>
          </p:cNvPr>
          <p:cNvSpPr txBox="1"/>
          <p:nvPr/>
        </p:nvSpPr>
        <p:spPr>
          <a:xfrm>
            <a:off x="3505200" y="1045200"/>
            <a:ext cx="6949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Read earthquake_1995-2023.csv via pandas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A9C8CA-43A4-FA42-E8C2-5ADFAA8C2E6C}"/>
              </a:ext>
            </a:extLst>
          </p:cNvPr>
          <p:cNvSpPr txBox="1"/>
          <p:nvPr/>
        </p:nvSpPr>
        <p:spPr>
          <a:xfrm>
            <a:off x="1298051" y="279886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3EC030-F5E9-6DFE-7408-6A339CAEE39B}"/>
              </a:ext>
            </a:extLst>
          </p:cNvPr>
          <p:cNvSpPr txBox="1"/>
          <p:nvPr/>
        </p:nvSpPr>
        <p:spPr>
          <a:xfrm>
            <a:off x="304800" y="1654281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6B6D4"/>
                </a:solidFill>
                <a:latin typeface="Calibri"/>
              </a:rPr>
              <a:t>🔁 Remove Duplicates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88B13A-D921-8AF5-EEFC-67FF678A56A5}"/>
              </a:ext>
            </a:extLst>
          </p:cNvPr>
          <p:cNvSpPr txBox="1"/>
          <p:nvPr/>
        </p:nvSpPr>
        <p:spPr>
          <a:xfrm>
            <a:off x="3505200" y="1705974"/>
            <a:ext cx="6949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df.drop_duplicates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() — exact row deduplication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6792A0-CD19-7110-753E-22927C9AAC51}"/>
              </a:ext>
            </a:extLst>
          </p:cNvPr>
          <p:cNvSpPr txBox="1"/>
          <p:nvPr/>
        </p:nvSpPr>
        <p:spPr>
          <a:xfrm>
            <a:off x="1300039" y="34837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E13A62-2797-A3B5-69EB-EB37AA772321}"/>
              </a:ext>
            </a:extLst>
          </p:cNvPr>
          <p:cNvSpPr txBox="1"/>
          <p:nvPr/>
        </p:nvSpPr>
        <p:spPr>
          <a:xfrm>
            <a:off x="304800" y="2377048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8B5CF6"/>
                </a:solidFill>
                <a:latin typeface="Calibri"/>
              </a:rPr>
              <a:t>🎯 Select Features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A46B0D-BA6A-97D9-4E7D-A82A8158C8A7}"/>
              </a:ext>
            </a:extLst>
          </p:cNvPr>
          <p:cNvSpPr txBox="1"/>
          <p:nvPr/>
        </p:nvSpPr>
        <p:spPr>
          <a:xfrm>
            <a:off x="3505200" y="2462524"/>
            <a:ext cx="6949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Retain</a:t>
            </a:r>
            <a:r>
              <a:rPr 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numerical features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+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categorical features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+ target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C3DFE0-7956-F7B3-5C87-BAF99176B19F}"/>
              </a:ext>
            </a:extLst>
          </p:cNvPr>
          <p:cNvSpPr txBox="1"/>
          <p:nvPr/>
        </p:nvSpPr>
        <p:spPr>
          <a:xfrm>
            <a:off x="1300039" y="427097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92E7BD-8576-7862-8E0E-0DF82DA1FC01}"/>
              </a:ext>
            </a:extLst>
          </p:cNvPr>
          <p:cNvSpPr txBox="1"/>
          <p:nvPr/>
        </p:nvSpPr>
        <p:spPr>
          <a:xfrm>
            <a:off x="304800" y="3052398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59E0B"/>
                </a:solidFill>
                <a:latin typeface="Calibri"/>
              </a:rPr>
              <a:t>🔧 Handle Missing Values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ACEA4C-3ECA-13DC-D78B-34267E4B2D40}"/>
              </a:ext>
            </a:extLst>
          </p:cNvPr>
          <p:cNvSpPr txBox="1"/>
          <p:nvPr/>
        </p:nvSpPr>
        <p:spPr>
          <a:xfrm>
            <a:off x="3505200" y="3093851"/>
            <a:ext cx="6949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Numeric </a:t>
            </a:r>
            <a:r>
              <a:rPr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NaN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→ column median  |  Categorical </a:t>
            </a:r>
            <a:r>
              <a:rPr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NaN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→ mode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E24EA3-F6C6-F9B2-E926-34E8619808EE}"/>
              </a:ext>
            </a:extLst>
          </p:cNvPr>
          <p:cNvSpPr txBox="1"/>
          <p:nvPr/>
        </p:nvSpPr>
        <p:spPr>
          <a:xfrm>
            <a:off x="1298051" y="502185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E966B7-EFB0-DBB7-C768-84CD6713F679}"/>
              </a:ext>
            </a:extLst>
          </p:cNvPr>
          <p:cNvSpPr txBox="1"/>
          <p:nvPr/>
        </p:nvSpPr>
        <p:spPr>
          <a:xfrm>
            <a:off x="350520" y="3803189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F4444"/>
                </a:solidFill>
                <a:latin typeface="Calibri"/>
              </a:rPr>
              <a:t>📐 Outlier Treatment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90B65A-511F-9E54-E58F-1B0C537F6A5C}"/>
              </a:ext>
            </a:extLst>
          </p:cNvPr>
          <p:cNvSpPr txBox="1"/>
          <p:nvPr/>
        </p:nvSpPr>
        <p:spPr>
          <a:xfrm>
            <a:off x="3505200" y="3850401"/>
            <a:ext cx="6949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Z-score |z|&gt;3 → replace with median (8 columns)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2FFE42-A06A-3D2B-085E-EBD6C8BED042}"/>
              </a:ext>
            </a:extLst>
          </p:cNvPr>
          <p:cNvSpPr txBox="1"/>
          <p:nvPr/>
        </p:nvSpPr>
        <p:spPr>
          <a:xfrm>
            <a:off x="1298051" y="215798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34A266-569B-5DDF-B192-A3BACA99E3E8}"/>
              </a:ext>
            </a:extLst>
          </p:cNvPr>
          <p:cNvSpPr txBox="1"/>
          <p:nvPr/>
        </p:nvSpPr>
        <p:spPr>
          <a:xfrm>
            <a:off x="304800" y="4512106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B981"/>
                </a:solidFill>
                <a:latin typeface="Calibri"/>
              </a:rPr>
              <a:t>🏷️ Encode </a:t>
            </a:r>
            <a:r>
              <a:rPr b="1" i="0" dirty="0" err="1">
                <a:solidFill>
                  <a:srgbClr val="10B981"/>
                </a:solidFill>
                <a:latin typeface="Calibri"/>
              </a:rPr>
              <a:t>Categoricals</a:t>
            </a:r>
            <a:endParaRPr b="1" i="0" dirty="0">
              <a:solidFill>
                <a:srgbClr val="10B981"/>
              </a:solidFill>
              <a:latin typeface="Calibr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F2576FA-E065-793D-CAD1-212D4B1E3E85}"/>
              </a:ext>
            </a:extLst>
          </p:cNvPr>
          <p:cNvSpPr txBox="1"/>
          <p:nvPr/>
        </p:nvSpPr>
        <p:spPr>
          <a:xfrm>
            <a:off x="3505200" y="4568232"/>
            <a:ext cx="6949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LabelEncoder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on alert, </a:t>
            </a:r>
            <a:r>
              <a:rPr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magType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, net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538933-38F2-19A7-9890-EF180D348E2C}"/>
              </a:ext>
            </a:extLst>
          </p:cNvPr>
          <p:cNvSpPr txBox="1"/>
          <p:nvPr/>
        </p:nvSpPr>
        <p:spPr>
          <a:xfrm>
            <a:off x="1298051" y="136296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920695-3B6E-023E-71EF-64BE95A83C9A}"/>
              </a:ext>
            </a:extLst>
          </p:cNvPr>
          <p:cNvSpPr txBox="1"/>
          <p:nvPr/>
        </p:nvSpPr>
        <p:spPr>
          <a:xfrm>
            <a:off x="304800" y="5303837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B82F6"/>
                </a:solidFill>
                <a:latin typeface="Calibri"/>
              </a:rPr>
              <a:t>✅ ML-Ready Dataset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D51EE39-B2DF-30E9-9237-A5B884685459}"/>
              </a:ext>
            </a:extLst>
          </p:cNvPr>
          <p:cNvSpPr txBox="1"/>
          <p:nvPr/>
        </p:nvSpPr>
        <p:spPr>
          <a:xfrm>
            <a:off x="3505200" y="5354137"/>
            <a:ext cx="6949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Clean feature matrix X and target vector y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29D613F-A645-7047-6C92-6C6DB8C58912}"/>
              </a:ext>
            </a:extLst>
          </p:cNvPr>
          <p:cNvSpPr/>
          <p:nvPr/>
        </p:nvSpPr>
        <p:spPr>
          <a:xfrm>
            <a:off x="9969618" y="564543"/>
            <a:ext cx="1828800" cy="5108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5DC35E1-F71D-9B2F-9BCE-3E7D5EC804C9}"/>
              </a:ext>
            </a:extLst>
          </p:cNvPr>
          <p:cNvSpPr txBox="1"/>
          <p:nvPr/>
        </p:nvSpPr>
        <p:spPr>
          <a:xfrm>
            <a:off x="10277393" y="62859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6B6D4"/>
                </a:solidFill>
                <a:latin typeface="Calibri"/>
              </a:rPr>
              <a:t>Key Code
References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FA17F12-1728-7461-8FDD-6DFC663F8652}"/>
              </a:ext>
            </a:extLst>
          </p:cNvPr>
          <p:cNvSpPr txBox="1"/>
          <p:nvPr/>
        </p:nvSpPr>
        <p:spPr>
          <a:xfrm>
            <a:off x="10070989" y="1375507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train.py: preprocess()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3FE5337-638D-8EC7-0ED2-10F11AECFCC9}"/>
              </a:ext>
            </a:extLst>
          </p:cNvPr>
          <p:cNvSpPr txBox="1"/>
          <p:nvPr/>
        </p:nvSpPr>
        <p:spPr>
          <a:xfrm>
            <a:off x="10152498" y="1971769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pd.drop_duplicates</a:t>
            </a:r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()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04FF550-673E-4FD3-BD9B-DF4F55D17611}"/>
              </a:ext>
            </a:extLst>
          </p:cNvPr>
          <p:cNvSpPr txBox="1"/>
          <p:nvPr/>
        </p:nvSpPr>
        <p:spPr>
          <a:xfrm>
            <a:off x="10354586" y="2643681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df</a:t>
            </a:r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[cols].copy()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C3EF616-6794-82D9-A80B-5603E0BF87CC}"/>
              </a:ext>
            </a:extLst>
          </p:cNvPr>
          <p:cNvSpPr txBox="1"/>
          <p:nvPr/>
        </p:nvSpPr>
        <p:spPr>
          <a:xfrm>
            <a:off x="10241280" y="3294772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df</a:t>
            </a:r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[col].</a:t>
            </a:r>
            <a:r>
              <a:rPr sz="1200" b="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fillna</a:t>
            </a:r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(median)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0E6D1C-D27F-36FF-658B-FF4D489602EF}"/>
              </a:ext>
            </a:extLst>
          </p:cNvPr>
          <p:cNvSpPr txBox="1"/>
          <p:nvPr/>
        </p:nvSpPr>
        <p:spPr>
          <a:xfrm>
            <a:off x="10354586" y="3985941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stats.zscore</a:t>
            </a:r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()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7A0EB5D-A96C-70C2-F6AB-411C331B84B6}"/>
              </a:ext>
            </a:extLst>
          </p:cNvPr>
          <p:cNvSpPr txBox="1"/>
          <p:nvPr/>
        </p:nvSpPr>
        <p:spPr>
          <a:xfrm>
            <a:off x="10354586" y="4662039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LabelEncoder</a:t>
            </a:r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()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7B02223-2146-AD6C-7A48-E5FB670A0169}"/>
              </a:ext>
            </a:extLst>
          </p:cNvPr>
          <p:cNvSpPr txBox="1"/>
          <p:nvPr/>
        </p:nvSpPr>
        <p:spPr>
          <a:xfrm>
            <a:off x="10354586" y="5233630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.</a:t>
            </a:r>
            <a:r>
              <a:rPr sz="1200" b="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fit_transform</a:t>
            </a:r>
            <a:r>
              <a:rPr sz="1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410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027" y="-179882"/>
            <a:ext cx="8304551" cy="824459"/>
          </a:xfrm>
        </p:spPr>
        <p:txBody>
          <a:bodyPr>
            <a:normAutofit/>
          </a:bodyPr>
          <a:lstStyle/>
          <a:p>
            <a:r>
              <a:rPr lang="en-US" sz="4000" dirty="0"/>
              <a:t>Exploratory Data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A2FD8E-1C84-6888-5146-6E4FBE3D5DD5}"/>
              </a:ext>
            </a:extLst>
          </p:cNvPr>
          <p:cNvSpPr/>
          <p:nvPr/>
        </p:nvSpPr>
        <p:spPr>
          <a:xfrm>
            <a:off x="239843" y="914400"/>
            <a:ext cx="3537679" cy="2349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72B81-D049-65E3-1866-C2B6EDF1F185}"/>
              </a:ext>
            </a:extLst>
          </p:cNvPr>
          <p:cNvSpPr/>
          <p:nvPr/>
        </p:nvSpPr>
        <p:spPr>
          <a:xfrm>
            <a:off x="8019737" y="4117923"/>
            <a:ext cx="3537679" cy="2349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A6725-3BA9-2CC7-7E2E-4C66DDDBC5FF}"/>
              </a:ext>
            </a:extLst>
          </p:cNvPr>
          <p:cNvSpPr/>
          <p:nvPr/>
        </p:nvSpPr>
        <p:spPr>
          <a:xfrm>
            <a:off x="8019737" y="914400"/>
            <a:ext cx="3537679" cy="2349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58434-310F-8188-1DE8-C00D678D3B9A}"/>
              </a:ext>
            </a:extLst>
          </p:cNvPr>
          <p:cNvSpPr/>
          <p:nvPr/>
        </p:nvSpPr>
        <p:spPr>
          <a:xfrm>
            <a:off x="239842" y="4117923"/>
            <a:ext cx="3537679" cy="2349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5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284DD82-090F-8FCE-0D2F-FB090A0A27A7}"/>
              </a:ext>
            </a:extLst>
          </p:cNvPr>
          <p:cNvSpPr txBox="1"/>
          <p:nvPr/>
        </p:nvSpPr>
        <p:spPr>
          <a:xfrm>
            <a:off x="228600" y="9144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Handling Class Imbalance with SMOTE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5D70FB-636F-217B-F63C-66692C67AE95}"/>
              </a:ext>
            </a:extLst>
          </p:cNvPr>
          <p:cNvSpPr txBox="1"/>
          <p:nvPr/>
        </p:nvSpPr>
        <p:spPr>
          <a:xfrm>
            <a:off x="228600" y="65836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Synthetic Minority Oversampling Technique applied only on training data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8CB39C-451F-A7AB-0E61-5D10BD8068F3}"/>
              </a:ext>
            </a:extLst>
          </p:cNvPr>
          <p:cNvSpPr/>
          <p:nvPr/>
        </p:nvSpPr>
        <p:spPr>
          <a:xfrm>
            <a:off x="320040" y="1097280"/>
            <a:ext cx="5029200" cy="2194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EB2760-179B-B55E-1DE9-38E39D0BE85D}"/>
              </a:ext>
            </a:extLst>
          </p:cNvPr>
          <p:cNvSpPr txBox="1"/>
          <p:nvPr/>
        </p:nvSpPr>
        <p:spPr>
          <a:xfrm>
            <a:off x="502920" y="114300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F4444"/>
                </a:solidFill>
                <a:highlight>
                  <a:srgbClr val="C0C0C0"/>
                </a:highlight>
                <a:latin typeface="Calibri"/>
              </a:rPr>
              <a:t>⚠️  The Problem: Class Imbalance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32B506-4246-F511-0C7A-A1119DAD4AD4}"/>
              </a:ext>
            </a:extLst>
          </p:cNvPr>
          <p:cNvSpPr txBox="1"/>
          <p:nvPr/>
        </p:nvSpPr>
        <p:spPr>
          <a:xfrm>
            <a:off x="640080" y="160020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0B981"/>
                </a:solidFill>
                <a:latin typeface="Calibri"/>
              </a:rPr>
              <a:t>tsunami = 0  (No Tsunami)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9039FC-9CA8-D3ED-FF41-3D41DA990C13}"/>
              </a:ext>
            </a:extLst>
          </p:cNvPr>
          <p:cNvSpPr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093CE3-68F0-86A4-44F3-87F9458DEF65}"/>
              </a:ext>
            </a:extLst>
          </p:cNvPr>
          <p:cNvSpPr txBox="1"/>
          <p:nvPr/>
        </p:nvSpPr>
        <p:spPr>
          <a:xfrm>
            <a:off x="685800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████████████████████████████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271584-8375-B019-040B-B9290CE53D05}"/>
              </a:ext>
            </a:extLst>
          </p:cNvPr>
          <p:cNvSpPr txBox="1"/>
          <p:nvPr/>
        </p:nvSpPr>
        <p:spPr>
          <a:xfrm>
            <a:off x="640080" y="246888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EF4444"/>
                </a:solidFill>
                <a:latin typeface="Calibri"/>
              </a:rPr>
              <a:t>tsunami = 1  (Tsunami)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6EE983-7301-56BC-33A1-24A6B6054398}"/>
              </a:ext>
            </a:extLst>
          </p:cNvPr>
          <p:cNvSpPr/>
          <p:nvPr/>
        </p:nvSpPr>
        <p:spPr>
          <a:xfrm>
            <a:off x="640080" y="2834640"/>
            <a:ext cx="100584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784B52-BAED-ECC9-7082-7FCE2C5C9B56}"/>
              </a:ext>
            </a:extLst>
          </p:cNvPr>
          <p:cNvSpPr txBox="1"/>
          <p:nvPr/>
        </p:nvSpPr>
        <p:spPr>
          <a:xfrm>
            <a:off x="68580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████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6B8B00A-F5A2-4558-7163-4187350B5EB2}"/>
              </a:ext>
            </a:extLst>
          </p:cNvPr>
          <p:cNvSpPr/>
          <p:nvPr/>
        </p:nvSpPr>
        <p:spPr>
          <a:xfrm>
            <a:off x="5623560" y="1143000"/>
            <a:ext cx="178308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0ADC28-79F1-654D-BD7B-C4EE10FFC317}"/>
              </a:ext>
            </a:extLst>
          </p:cNvPr>
          <p:cNvSpPr txBox="1"/>
          <p:nvPr/>
        </p:nvSpPr>
        <p:spPr>
          <a:xfrm>
            <a:off x="5696712" y="1188720"/>
            <a:ext cx="16642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chemeClr val="bg1"/>
                </a:solidFill>
                <a:latin typeface="Calibri"/>
              </a:rPr>
              <a:t>Train/Test Split
(80% / 20%  stratified)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433B50-266E-4E84-F0BA-4A9F55E65EC2}"/>
              </a:ext>
            </a:extLst>
          </p:cNvPr>
          <p:cNvSpPr txBox="1"/>
          <p:nvPr/>
        </p:nvSpPr>
        <p:spPr>
          <a:xfrm>
            <a:off x="6309360" y="20848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BEB80A6-DB14-9FA9-8255-FD42CB1612BD}"/>
              </a:ext>
            </a:extLst>
          </p:cNvPr>
          <p:cNvSpPr/>
          <p:nvPr/>
        </p:nvSpPr>
        <p:spPr>
          <a:xfrm>
            <a:off x="5623560" y="2423160"/>
            <a:ext cx="178308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FCD9AE-B6B1-3624-EFA8-8200AD8F0C1C}"/>
              </a:ext>
            </a:extLst>
          </p:cNvPr>
          <p:cNvSpPr txBox="1"/>
          <p:nvPr/>
        </p:nvSpPr>
        <p:spPr>
          <a:xfrm>
            <a:off x="5696712" y="2468880"/>
            <a:ext cx="1664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chemeClr val="bg1"/>
                </a:solidFill>
                <a:latin typeface="Calibri"/>
              </a:rPr>
              <a:t>SMOTE applied to
TRAINING SET ONLY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A71B63-0285-C851-191F-F15E43E781A9}"/>
              </a:ext>
            </a:extLst>
          </p:cNvPr>
          <p:cNvSpPr txBox="1"/>
          <p:nvPr/>
        </p:nvSpPr>
        <p:spPr>
          <a:xfrm>
            <a:off x="6309360" y="336499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77B065-D109-8872-79F6-D7F730402FAC}"/>
              </a:ext>
            </a:extLst>
          </p:cNvPr>
          <p:cNvSpPr/>
          <p:nvPr/>
        </p:nvSpPr>
        <p:spPr>
          <a:xfrm>
            <a:off x="5623560" y="3703320"/>
            <a:ext cx="178308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7FAFAB-61E8-70B8-B8D5-99D8A158D6CB}"/>
              </a:ext>
            </a:extLst>
          </p:cNvPr>
          <p:cNvSpPr txBox="1"/>
          <p:nvPr/>
        </p:nvSpPr>
        <p:spPr>
          <a:xfrm>
            <a:off x="5696712" y="3749039"/>
            <a:ext cx="1664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chemeClr val="bg1"/>
                </a:solidFill>
                <a:latin typeface="Calibri"/>
              </a:rPr>
              <a:t>Balanced Training
Data (50% / 50%)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1A32ED-8562-59E6-F772-6A82671F186D}"/>
              </a:ext>
            </a:extLst>
          </p:cNvPr>
          <p:cNvSpPr txBox="1"/>
          <p:nvPr/>
        </p:nvSpPr>
        <p:spPr>
          <a:xfrm>
            <a:off x="6309360" y="46451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4FF158C-2FB0-FCBF-5920-CE99947919AF}"/>
              </a:ext>
            </a:extLst>
          </p:cNvPr>
          <p:cNvSpPr/>
          <p:nvPr/>
        </p:nvSpPr>
        <p:spPr>
          <a:xfrm>
            <a:off x="5623560" y="4983479"/>
            <a:ext cx="178308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C96A7F-DBA8-D212-755E-4D90D17205A7}"/>
              </a:ext>
            </a:extLst>
          </p:cNvPr>
          <p:cNvSpPr txBox="1"/>
          <p:nvPr/>
        </p:nvSpPr>
        <p:spPr>
          <a:xfrm>
            <a:off x="5696712" y="5029199"/>
            <a:ext cx="1664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chemeClr val="bg1"/>
                </a:solidFill>
                <a:latin typeface="Calibri"/>
              </a:rPr>
              <a:t>ML Model
Training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4BD682B-3093-6C2D-5AA6-09314E249FBA}"/>
              </a:ext>
            </a:extLst>
          </p:cNvPr>
          <p:cNvSpPr/>
          <p:nvPr/>
        </p:nvSpPr>
        <p:spPr>
          <a:xfrm>
            <a:off x="7581900" y="923544"/>
            <a:ext cx="4236720" cy="50109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27EF6F-D94A-CA90-B80A-B8C99B105682}"/>
              </a:ext>
            </a:extLst>
          </p:cNvPr>
          <p:cNvSpPr txBox="1"/>
          <p:nvPr/>
        </p:nvSpPr>
        <p:spPr>
          <a:xfrm>
            <a:off x="7818120" y="114300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Key Points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F764D60-7D26-9381-383F-E888E7A54270}"/>
              </a:ext>
            </a:extLst>
          </p:cNvPr>
          <p:cNvSpPr/>
          <p:nvPr/>
        </p:nvSpPr>
        <p:spPr>
          <a:xfrm>
            <a:off x="7726679" y="1627632"/>
            <a:ext cx="3977639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A6AF1E-93C9-2F76-19E9-EA357DE86AD0}"/>
              </a:ext>
            </a:extLst>
          </p:cNvPr>
          <p:cNvSpPr txBox="1"/>
          <p:nvPr/>
        </p:nvSpPr>
        <p:spPr>
          <a:xfrm>
            <a:off x="7863840" y="1664208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alibri"/>
              </a:rPr>
              <a:t>▸  Test data is kept entirely separate before SMOTE is applied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4E2D25-0897-2972-9575-6CF3AA89B3A8}"/>
              </a:ext>
            </a:extLst>
          </p:cNvPr>
          <p:cNvSpPr/>
          <p:nvPr/>
        </p:nvSpPr>
        <p:spPr>
          <a:xfrm>
            <a:off x="7726679" y="2331720"/>
            <a:ext cx="3977639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76B045-4083-369F-E204-DE63004D3CB6}"/>
              </a:ext>
            </a:extLst>
          </p:cNvPr>
          <p:cNvSpPr txBox="1"/>
          <p:nvPr/>
        </p:nvSpPr>
        <p:spPr>
          <a:xfrm>
            <a:off x="7863840" y="2368296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alibri"/>
              </a:rPr>
              <a:t>▸  SMOTE creates synthetic minority samples in feature space (not copies)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D39625E-3D59-6A41-51F5-BE4B78693CAB}"/>
              </a:ext>
            </a:extLst>
          </p:cNvPr>
          <p:cNvSpPr/>
          <p:nvPr/>
        </p:nvSpPr>
        <p:spPr>
          <a:xfrm>
            <a:off x="7726679" y="3035808"/>
            <a:ext cx="3977639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BABF1C-6D40-410B-1FEE-EE6B511BC4B6}"/>
              </a:ext>
            </a:extLst>
          </p:cNvPr>
          <p:cNvSpPr txBox="1"/>
          <p:nvPr/>
        </p:nvSpPr>
        <p:spPr>
          <a:xfrm>
            <a:off x="7863840" y="3072384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alibri"/>
              </a:rPr>
              <a:t>▸  Implemented: </a:t>
            </a:r>
            <a:r>
              <a:rPr sz="1200" b="0" i="0" dirty="0" err="1">
                <a:solidFill>
                  <a:schemeClr val="bg1"/>
                </a:solidFill>
                <a:latin typeface="Calibri"/>
              </a:rPr>
              <a:t>imblearn.over_sampling.SMOTE</a:t>
            </a:r>
            <a:r>
              <a:rPr sz="1200" b="0" i="0" dirty="0">
                <a:solidFill>
                  <a:schemeClr val="bg1"/>
                </a:solidFill>
                <a:latin typeface="Calibri"/>
              </a:rPr>
              <a:t>(</a:t>
            </a:r>
            <a:r>
              <a:rPr sz="1200" b="0" i="0" dirty="0" err="1">
                <a:solidFill>
                  <a:schemeClr val="bg1"/>
                </a:solidFill>
                <a:latin typeface="Calibri"/>
              </a:rPr>
              <a:t>random_state</a:t>
            </a:r>
            <a:r>
              <a:rPr sz="1200" b="0" i="0" dirty="0">
                <a:solidFill>
                  <a:schemeClr val="bg1"/>
                </a:solidFill>
                <a:latin typeface="Calibri"/>
              </a:rPr>
              <a:t>=42)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7C892A7-8A28-6E7A-B0B9-665A115650EE}"/>
              </a:ext>
            </a:extLst>
          </p:cNvPr>
          <p:cNvSpPr/>
          <p:nvPr/>
        </p:nvSpPr>
        <p:spPr>
          <a:xfrm>
            <a:off x="7726679" y="3739896"/>
            <a:ext cx="3977639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D78A03-A620-B33E-B2EE-0F9E00132694}"/>
              </a:ext>
            </a:extLst>
          </p:cNvPr>
          <p:cNvSpPr txBox="1"/>
          <p:nvPr/>
        </p:nvSpPr>
        <p:spPr>
          <a:xfrm>
            <a:off x="7863840" y="3776472"/>
            <a:ext cx="3749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alibri"/>
              </a:rPr>
              <a:t>▸  Applied inside </a:t>
            </a:r>
            <a:r>
              <a:rPr sz="1200" b="0" i="0" dirty="0" err="1">
                <a:solidFill>
                  <a:schemeClr val="bg1"/>
                </a:solidFill>
                <a:latin typeface="Calibri"/>
              </a:rPr>
              <a:t>split_and_smote</a:t>
            </a:r>
            <a:r>
              <a:rPr sz="1200" b="0" i="0" dirty="0">
                <a:solidFill>
                  <a:schemeClr val="bg1"/>
                </a:solidFill>
                <a:latin typeface="Calibri"/>
              </a:rPr>
              <a:t>() function in train.py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B2ACA2-C4D9-FB5C-E7BA-BC76C968A44E}"/>
              </a:ext>
            </a:extLst>
          </p:cNvPr>
          <p:cNvSpPr/>
          <p:nvPr/>
        </p:nvSpPr>
        <p:spPr>
          <a:xfrm>
            <a:off x="7726679" y="4443984"/>
            <a:ext cx="3977639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E50A9EC-9287-D56B-E2C1-5F9B2A11E28F}"/>
              </a:ext>
            </a:extLst>
          </p:cNvPr>
          <p:cNvSpPr txBox="1"/>
          <p:nvPr/>
        </p:nvSpPr>
        <p:spPr>
          <a:xfrm>
            <a:off x="7863840" y="4480560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alibri"/>
              </a:rPr>
              <a:t>▸  After SMOTE: both classes have equal representation in training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1369EA9-1468-4218-EE14-CA977AFE234A}"/>
              </a:ext>
            </a:extLst>
          </p:cNvPr>
          <p:cNvSpPr/>
          <p:nvPr/>
        </p:nvSpPr>
        <p:spPr>
          <a:xfrm>
            <a:off x="7726679" y="5148072"/>
            <a:ext cx="3977639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6BC397E-7D19-2B7A-D54D-22B03043AD37}"/>
              </a:ext>
            </a:extLst>
          </p:cNvPr>
          <p:cNvSpPr txBox="1"/>
          <p:nvPr/>
        </p:nvSpPr>
        <p:spPr>
          <a:xfrm>
            <a:off x="7863840" y="5184648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alibri"/>
              </a:rPr>
              <a:t>▸  Helps classifiers learn the minority tsunami class more effectively</a:t>
            </a:r>
          </a:p>
        </p:txBody>
      </p:sp>
    </p:spTree>
    <p:extLst>
      <p:ext uri="{BB962C8B-B14F-4D97-AF65-F5344CB8AC3E}">
        <p14:creationId xmlns:p14="http://schemas.microsoft.com/office/powerpoint/2010/main" val="212726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389F2C1-2FD0-3CC6-413B-619336C52D67}"/>
              </a:ext>
            </a:extLst>
          </p:cNvPr>
          <p:cNvSpPr txBox="1"/>
          <p:nvPr/>
        </p:nvSpPr>
        <p:spPr>
          <a:xfrm>
            <a:off x="228600" y="9144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Machine Learning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C8EC5-C0CF-97F6-91D3-384A7515E4C1}"/>
              </a:ext>
            </a:extLst>
          </p:cNvPr>
          <p:cNvSpPr txBox="1"/>
          <p:nvPr/>
        </p:nvSpPr>
        <p:spPr>
          <a:xfrm>
            <a:off x="228600" y="658368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Three classifiers trained in parallel from the same preprocessed dataset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56B60E-BAF3-29CE-54C6-FD1E24965697}"/>
              </a:ext>
            </a:extLst>
          </p:cNvPr>
          <p:cNvSpPr/>
          <p:nvPr/>
        </p:nvSpPr>
        <p:spPr>
          <a:xfrm>
            <a:off x="1455089" y="1115568"/>
            <a:ext cx="8921363" cy="603504"/>
          </a:xfrm>
          <a:prstGeom prst="rect">
            <a:avLst/>
          </a:prstGeom>
          <a:solidFill>
            <a:schemeClr val="accent2"/>
          </a:solidFill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0F0AFD-0669-B17A-8ADC-9F2AAC49E089}"/>
              </a:ext>
            </a:extLst>
          </p:cNvPr>
          <p:cNvSpPr txBox="1"/>
          <p:nvPr/>
        </p:nvSpPr>
        <p:spPr>
          <a:xfrm>
            <a:off x="4646576" y="1054232"/>
            <a:ext cx="25940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Preprocessed + SMOTE Training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3C353-3756-1F1E-4FD9-57A1B934E07D}"/>
              </a:ext>
            </a:extLst>
          </p:cNvPr>
          <p:cNvSpPr txBox="1"/>
          <p:nvPr/>
        </p:nvSpPr>
        <p:spPr>
          <a:xfrm>
            <a:off x="2148840" y="18288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4D55AC-8C00-8397-9C50-AF1CE07F6C43}"/>
              </a:ext>
            </a:extLst>
          </p:cNvPr>
          <p:cNvSpPr txBox="1"/>
          <p:nvPr/>
        </p:nvSpPr>
        <p:spPr>
          <a:xfrm>
            <a:off x="5486400" y="1812897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6B22B9-73F3-94F8-9E08-5C0E75B461CC}"/>
              </a:ext>
            </a:extLst>
          </p:cNvPr>
          <p:cNvSpPr txBox="1"/>
          <p:nvPr/>
        </p:nvSpPr>
        <p:spPr>
          <a:xfrm>
            <a:off x="8982986" y="1793783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5BAB2C-A2C2-860A-C2E1-B6F8D00B2A6D}"/>
              </a:ext>
            </a:extLst>
          </p:cNvPr>
          <p:cNvSpPr/>
          <p:nvPr/>
        </p:nvSpPr>
        <p:spPr>
          <a:xfrm>
            <a:off x="201168" y="2176272"/>
            <a:ext cx="3840480" cy="33260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639E5E-3281-823E-0BFE-39AA4025EFF0}"/>
              </a:ext>
            </a:extLst>
          </p:cNvPr>
          <p:cNvSpPr/>
          <p:nvPr/>
        </p:nvSpPr>
        <p:spPr>
          <a:xfrm>
            <a:off x="201168" y="2176272"/>
            <a:ext cx="384048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341388-6915-A464-9B26-B85DC4B64175}"/>
              </a:ext>
            </a:extLst>
          </p:cNvPr>
          <p:cNvSpPr txBox="1"/>
          <p:nvPr/>
        </p:nvSpPr>
        <p:spPr>
          <a:xfrm>
            <a:off x="338328" y="220370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🌲  Decision Tree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5943D-174C-F310-AB97-991A378032A0}"/>
              </a:ext>
            </a:extLst>
          </p:cNvPr>
          <p:cNvSpPr txBox="1"/>
          <p:nvPr/>
        </p:nvSpPr>
        <p:spPr>
          <a:xfrm>
            <a:off x="338328" y="2670048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sklearn.tree.DecisionTreeClassifier</a:t>
            </a:r>
            <a:endParaRPr sz="1600" b="0" i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6998BA-1D10-F4EF-FF91-35E6083499A7}"/>
              </a:ext>
            </a:extLst>
          </p:cNvPr>
          <p:cNvSpPr txBox="1"/>
          <p:nvPr/>
        </p:nvSpPr>
        <p:spPr>
          <a:xfrm>
            <a:off x="338328" y="3017520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Tree-based classification model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2002A3-CC89-B8C0-1354-C0C01FB9E430}"/>
              </a:ext>
            </a:extLst>
          </p:cNvPr>
          <p:cNvSpPr txBox="1"/>
          <p:nvPr/>
        </p:nvSpPr>
        <p:spPr>
          <a:xfrm>
            <a:off x="338328" y="3419856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Non-parametric, greedy splits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4F7B6A-94C1-ACFE-4F3D-2A365F6B4F41}"/>
              </a:ext>
            </a:extLst>
          </p:cNvPr>
          <p:cNvSpPr txBox="1"/>
          <p:nvPr/>
        </p:nvSpPr>
        <p:spPr>
          <a:xfrm>
            <a:off x="338328" y="3822191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Easily interpretable (visual tree)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222641-1681-DB24-F431-47DB900E1367}"/>
              </a:ext>
            </a:extLst>
          </p:cNvPr>
          <p:cNvSpPr txBox="1"/>
          <p:nvPr/>
        </p:nvSpPr>
        <p:spPr>
          <a:xfrm>
            <a:off x="338328" y="4224528"/>
            <a:ext cx="3520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Prone to overfitting; tuned with depth </a:t>
            </a:r>
            <a:r>
              <a:rPr lang="en-US"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   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limits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9A7540-7A60-6CB0-ABE5-EBB58780F83A}"/>
              </a:ext>
            </a:extLst>
          </p:cNvPr>
          <p:cNvSpPr/>
          <p:nvPr/>
        </p:nvSpPr>
        <p:spPr>
          <a:xfrm>
            <a:off x="4270248" y="2176272"/>
            <a:ext cx="3840480" cy="33260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5826FB-B7D1-2890-E204-843C708A601A}"/>
              </a:ext>
            </a:extLst>
          </p:cNvPr>
          <p:cNvSpPr/>
          <p:nvPr/>
        </p:nvSpPr>
        <p:spPr>
          <a:xfrm>
            <a:off x="4270248" y="2176272"/>
            <a:ext cx="384048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F0FB06-C59A-77BA-DE5D-24EA21414438}"/>
              </a:ext>
            </a:extLst>
          </p:cNvPr>
          <p:cNvSpPr txBox="1"/>
          <p:nvPr/>
        </p:nvSpPr>
        <p:spPr>
          <a:xfrm>
            <a:off x="4407408" y="220370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🌳  Random Forest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F254DC-F52C-428A-E981-2D6D920D7F53}"/>
              </a:ext>
            </a:extLst>
          </p:cNvPr>
          <p:cNvSpPr txBox="1"/>
          <p:nvPr/>
        </p:nvSpPr>
        <p:spPr>
          <a:xfrm>
            <a:off x="4407408" y="2670049"/>
            <a:ext cx="3703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latin typeface="Calibri"/>
              </a:rPr>
              <a:t>sklearn.ensemble.RandomForestClassifier</a:t>
            </a:r>
            <a:endParaRPr sz="1600" b="0" i="1" dirty="0"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B16A60-8CA3-658C-700F-1EB3766E3032}"/>
              </a:ext>
            </a:extLst>
          </p:cNvPr>
          <p:cNvSpPr txBox="1"/>
          <p:nvPr/>
        </p:nvSpPr>
        <p:spPr>
          <a:xfrm>
            <a:off x="4407408" y="3017520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Ensemble of decision trees (bagging)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D5E015-8501-6330-BEF4-A3F7ED7FB36C}"/>
              </a:ext>
            </a:extLst>
          </p:cNvPr>
          <p:cNvSpPr txBox="1"/>
          <p:nvPr/>
        </p:nvSpPr>
        <p:spPr>
          <a:xfrm>
            <a:off x="4407408" y="3419856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Reduces variance via averaging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26208C-0549-AAD0-D743-F190B4141E54}"/>
              </a:ext>
            </a:extLst>
          </p:cNvPr>
          <p:cNvSpPr txBox="1"/>
          <p:nvPr/>
        </p:nvSpPr>
        <p:spPr>
          <a:xfrm>
            <a:off x="4407408" y="3822191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Robust to noise and irrelevant features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D261D2-BD4C-C8A0-4CEC-6A4D27AB4D29}"/>
              </a:ext>
            </a:extLst>
          </p:cNvPr>
          <p:cNvSpPr txBox="1"/>
          <p:nvPr/>
        </p:nvSpPr>
        <p:spPr>
          <a:xfrm>
            <a:off x="4407408" y="4224528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Provides feature importance scores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7C73D88-D6FC-56C7-0C17-CDA41BEBA16B}"/>
              </a:ext>
            </a:extLst>
          </p:cNvPr>
          <p:cNvSpPr/>
          <p:nvPr/>
        </p:nvSpPr>
        <p:spPr>
          <a:xfrm>
            <a:off x="8339327" y="2176272"/>
            <a:ext cx="3840480" cy="33260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2BA70F8-650F-9441-A8F9-1135E837780C}"/>
              </a:ext>
            </a:extLst>
          </p:cNvPr>
          <p:cNvSpPr/>
          <p:nvPr/>
        </p:nvSpPr>
        <p:spPr>
          <a:xfrm>
            <a:off x="8339327" y="2176272"/>
            <a:ext cx="384048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17E9E0-915B-96AE-84A6-A51F0DE78B71}"/>
              </a:ext>
            </a:extLst>
          </p:cNvPr>
          <p:cNvSpPr txBox="1"/>
          <p:nvPr/>
        </p:nvSpPr>
        <p:spPr>
          <a:xfrm>
            <a:off x="8476488" y="220370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XGBoost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8F152E-20EC-EDBE-AE8D-D1ED14102460}"/>
              </a:ext>
            </a:extLst>
          </p:cNvPr>
          <p:cNvSpPr txBox="1"/>
          <p:nvPr/>
        </p:nvSpPr>
        <p:spPr>
          <a:xfrm>
            <a:off x="8476488" y="2670048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latin typeface="Calibri"/>
              </a:rPr>
              <a:t>xgboost.XGBClassifier</a:t>
            </a:r>
            <a:endParaRPr sz="1600" b="0" i="1" dirty="0">
              <a:latin typeface="Calibri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719B39-56D9-3AB1-275B-3557303765DB}"/>
              </a:ext>
            </a:extLst>
          </p:cNvPr>
          <p:cNvSpPr txBox="1"/>
          <p:nvPr/>
        </p:nvSpPr>
        <p:spPr>
          <a:xfrm>
            <a:off x="8476488" y="3017520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Gradient boosting framework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13DC56-0480-D19A-DEFE-D321E8AC7465}"/>
              </a:ext>
            </a:extLst>
          </p:cNvPr>
          <p:cNvSpPr txBox="1"/>
          <p:nvPr/>
        </p:nvSpPr>
        <p:spPr>
          <a:xfrm>
            <a:off x="8476488" y="3419856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Sequential tree building (boosting)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6A4A10-A5A4-B012-DBD3-9D1DE11C8124}"/>
              </a:ext>
            </a:extLst>
          </p:cNvPr>
          <p:cNvSpPr txBox="1"/>
          <p:nvPr/>
        </p:nvSpPr>
        <p:spPr>
          <a:xfrm>
            <a:off x="8476488" y="3822191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Highly effective on tabular data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7F16AD-AF37-A214-82E8-DEE5070B6915}"/>
              </a:ext>
            </a:extLst>
          </p:cNvPr>
          <p:cNvSpPr txBox="1"/>
          <p:nvPr/>
        </p:nvSpPr>
        <p:spPr>
          <a:xfrm>
            <a:off x="8476488" y="4224528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▸  Built-in </a:t>
            </a:r>
            <a:r>
              <a:rPr sz="1400" b="0" i="0" dirty="0" err="1">
                <a:latin typeface="Calibri"/>
              </a:rPr>
              <a:t>regularisation</a:t>
            </a:r>
            <a:r>
              <a:rPr sz="1400" b="0" i="0" dirty="0">
                <a:latin typeface="Calibri"/>
              </a:rPr>
              <a:t> (L1/L2)</a:t>
            </a:r>
          </a:p>
        </p:txBody>
      </p:sp>
    </p:spTree>
    <p:extLst>
      <p:ext uri="{BB962C8B-B14F-4D97-AF65-F5344CB8AC3E}">
        <p14:creationId xmlns:p14="http://schemas.microsoft.com/office/powerpoint/2010/main" val="168935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C9C9325-A316-68CD-33ED-167529A4A61F}"/>
              </a:ext>
            </a:extLst>
          </p:cNvPr>
          <p:cNvSpPr txBox="1"/>
          <p:nvPr/>
        </p:nvSpPr>
        <p:spPr>
          <a:xfrm>
            <a:off x="228600" y="9144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Model Training &amp; Validation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5996B-6445-225D-8F83-0A27A2B4E7BF}"/>
              </a:ext>
            </a:extLst>
          </p:cNvPr>
          <p:cNvSpPr txBox="1"/>
          <p:nvPr/>
        </p:nvSpPr>
        <p:spPr>
          <a:xfrm>
            <a:off x="228600" y="65836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chemeClr val="accent2">
                    <a:lumMod val="50000"/>
                  </a:schemeClr>
                </a:solidFill>
              </a:rPr>
              <a:t>RandomizedSearchCV</a:t>
            </a:r>
            <a:r>
              <a:rPr sz="1200" b="0" i="0" dirty="0">
                <a:solidFill>
                  <a:schemeClr val="accent2">
                    <a:lumMod val="50000"/>
                  </a:schemeClr>
                </a:solidFill>
              </a:rPr>
              <a:t> with 5-fold </a:t>
            </a:r>
            <a:r>
              <a:rPr sz="1200" b="0" i="0" dirty="0" err="1">
                <a:solidFill>
                  <a:schemeClr val="accent2">
                    <a:lumMod val="50000"/>
                  </a:schemeClr>
                </a:solidFill>
              </a:rPr>
              <a:t>StratifiedKFold</a:t>
            </a:r>
            <a:r>
              <a:rPr sz="1200" b="0" i="0" dirty="0">
                <a:solidFill>
                  <a:schemeClr val="accent2">
                    <a:lumMod val="50000"/>
                  </a:schemeClr>
                </a:solidFill>
              </a:rPr>
              <a:t> cross-validation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CBA36A-2511-BF34-61CC-D82848112DF8}"/>
              </a:ext>
            </a:extLst>
          </p:cNvPr>
          <p:cNvSpPr txBox="1"/>
          <p:nvPr/>
        </p:nvSpPr>
        <p:spPr>
          <a:xfrm>
            <a:off x="566928" y="1207008"/>
            <a:ext cx="338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Calibri"/>
              </a:rPr>
              <a:t>SMOTE Balanced
Training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2B065-C76D-C9EF-C721-58B8162CA04C}"/>
              </a:ext>
            </a:extLst>
          </p:cNvPr>
          <p:cNvSpPr txBox="1"/>
          <p:nvPr/>
        </p:nvSpPr>
        <p:spPr>
          <a:xfrm>
            <a:off x="2011680" y="171617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9EDE8F-12BE-57FD-6822-AA6EDF67FAC2}"/>
              </a:ext>
            </a:extLst>
          </p:cNvPr>
          <p:cNvSpPr txBox="1"/>
          <p:nvPr/>
        </p:nvSpPr>
        <p:spPr>
          <a:xfrm>
            <a:off x="579120" y="2095844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Calibri"/>
              </a:rPr>
              <a:t>Decision Tree
+ Random Forest
+ </a:t>
            </a:r>
            <a:r>
              <a:rPr sz="1600" b="1" i="0" dirty="0" err="1">
                <a:latin typeface="Calibri"/>
              </a:rPr>
              <a:t>XGBoost</a:t>
            </a:r>
            <a:endParaRPr sz="1600" b="1" i="0" dirty="0"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0059B9-F8F3-C0D6-59A6-DB5DB2C78D59}"/>
              </a:ext>
            </a:extLst>
          </p:cNvPr>
          <p:cNvSpPr txBox="1"/>
          <p:nvPr/>
        </p:nvSpPr>
        <p:spPr>
          <a:xfrm>
            <a:off x="2011680" y="293730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E5C65B-9D2F-9616-4E94-A07979543CFF}"/>
              </a:ext>
            </a:extLst>
          </p:cNvPr>
          <p:cNvSpPr txBox="1"/>
          <p:nvPr/>
        </p:nvSpPr>
        <p:spPr>
          <a:xfrm>
            <a:off x="579120" y="3284772"/>
            <a:ext cx="338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Calibri"/>
              </a:rPr>
              <a:t>5-Fold Stratified
Cross-Validation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E5503F-0FAF-4285-3CBE-033A7C229CA2}"/>
              </a:ext>
            </a:extLst>
          </p:cNvPr>
          <p:cNvSpPr txBox="1"/>
          <p:nvPr/>
        </p:nvSpPr>
        <p:spPr>
          <a:xfrm>
            <a:off x="2011680" y="391721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2817D8-2202-CD06-9293-84F057E734EA}"/>
              </a:ext>
            </a:extLst>
          </p:cNvPr>
          <p:cNvSpPr txBox="1"/>
          <p:nvPr/>
        </p:nvSpPr>
        <p:spPr>
          <a:xfrm>
            <a:off x="566928" y="4258558"/>
            <a:ext cx="338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Calibri"/>
              </a:rPr>
              <a:t>20-Iteration
Randomized Search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A16263-CD83-AA7F-8DA6-7FADC6698CCE}"/>
              </a:ext>
            </a:extLst>
          </p:cNvPr>
          <p:cNvSpPr txBox="1"/>
          <p:nvPr/>
        </p:nvSpPr>
        <p:spPr>
          <a:xfrm>
            <a:off x="2011680" y="484880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6C371E-C205-FFF2-E64C-FF61FC173733}"/>
              </a:ext>
            </a:extLst>
          </p:cNvPr>
          <p:cNvSpPr txBox="1"/>
          <p:nvPr/>
        </p:nvSpPr>
        <p:spPr>
          <a:xfrm>
            <a:off x="622852" y="5232042"/>
            <a:ext cx="338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Calibri"/>
              </a:rPr>
              <a:t>Best CV Accuracy
Model Selected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DC30EE8-89BD-8A61-7946-7A0744F38E8A}"/>
              </a:ext>
            </a:extLst>
          </p:cNvPr>
          <p:cNvSpPr/>
          <p:nvPr/>
        </p:nvSpPr>
        <p:spPr>
          <a:xfrm>
            <a:off x="4294500" y="1040630"/>
            <a:ext cx="7498079" cy="45948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7E7750-8F19-E3D7-1D96-04B874A14D59}"/>
              </a:ext>
            </a:extLst>
          </p:cNvPr>
          <p:cNvSpPr txBox="1"/>
          <p:nvPr/>
        </p:nvSpPr>
        <p:spPr>
          <a:xfrm>
            <a:off x="4572000" y="1170432"/>
            <a:ext cx="713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6B6D4"/>
                </a:solidFill>
                <a:latin typeface="+mj-lt"/>
              </a:rPr>
              <a:t>Implementation Details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3E73F8-B74B-28A0-388F-4A4DDDACB526}"/>
              </a:ext>
            </a:extLst>
          </p:cNvPr>
          <p:cNvSpPr txBox="1"/>
          <p:nvPr/>
        </p:nvSpPr>
        <p:spPr>
          <a:xfrm>
            <a:off x="4663440" y="1719072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3B82F6"/>
                </a:solidFill>
              </a:rPr>
              <a:t>Train / Test Split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5A1009-E462-59DF-19F7-D1A1139B7400}"/>
              </a:ext>
            </a:extLst>
          </p:cNvPr>
          <p:cNvSpPr txBox="1"/>
          <p:nvPr/>
        </p:nvSpPr>
        <p:spPr>
          <a:xfrm>
            <a:off x="4663440" y="1906405"/>
            <a:ext cx="6949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latin typeface="Calibri"/>
              </a:rPr>
              <a:t>80% training, 20% test
</a:t>
            </a:r>
            <a:r>
              <a:rPr sz="1100" b="0" i="0" dirty="0" err="1">
                <a:latin typeface="Calibri"/>
              </a:rPr>
              <a:t>train_test_split</a:t>
            </a:r>
            <a:r>
              <a:rPr sz="1100" b="0" i="0" dirty="0">
                <a:latin typeface="Calibri"/>
              </a:rPr>
              <a:t>(</a:t>
            </a:r>
            <a:r>
              <a:rPr sz="1100" b="0" i="0" dirty="0" err="1">
                <a:latin typeface="Calibri"/>
              </a:rPr>
              <a:t>test_size</a:t>
            </a:r>
            <a:r>
              <a:rPr sz="1100" b="0" i="0" dirty="0">
                <a:latin typeface="Calibri"/>
              </a:rPr>
              <a:t>=0.2, stratify=y, </a:t>
            </a:r>
            <a:r>
              <a:rPr sz="1100" b="0" i="0" dirty="0" err="1">
                <a:latin typeface="Calibri"/>
              </a:rPr>
              <a:t>random_state</a:t>
            </a:r>
            <a:r>
              <a:rPr sz="1100" b="0" i="0" dirty="0">
                <a:latin typeface="Calibri"/>
              </a:rPr>
              <a:t>=42)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40ADC9-A91B-2BA0-9853-38C658726B15}"/>
              </a:ext>
            </a:extLst>
          </p:cNvPr>
          <p:cNvSpPr txBox="1"/>
          <p:nvPr/>
        </p:nvSpPr>
        <p:spPr>
          <a:xfrm>
            <a:off x="4675632" y="242751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8B5CF6"/>
                </a:solidFill>
              </a:rPr>
              <a:t>Cross-Validation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63C3D1-216F-3DBA-20BD-0B9C8AFD3D41}"/>
              </a:ext>
            </a:extLst>
          </p:cNvPr>
          <p:cNvSpPr txBox="1"/>
          <p:nvPr/>
        </p:nvSpPr>
        <p:spPr>
          <a:xfrm>
            <a:off x="4663440" y="2637484"/>
            <a:ext cx="6949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latin typeface="Calibri"/>
              </a:rPr>
              <a:t>StratifiedKFold</a:t>
            </a:r>
            <a:r>
              <a:rPr sz="1100" b="0" i="0" dirty="0">
                <a:latin typeface="Calibri"/>
              </a:rPr>
              <a:t>(</a:t>
            </a:r>
            <a:r>
              <a:rPr sz="1100" b="0" i="0" dirty="0" err="1">
                <a:latin typeface="Calibri"/>
              </a:rPr>
              <a:t>n_splits</a:t>
            </a:r>
            <a:r>
              <a:rPr sz="1100" b="0" i="0" dirty="0">
                <a:latin typeface="Calibri"/>
              </a:rPr>
              <a:t>=5, shuffle=True, </a:t>
            </a:r>
            <a:r>
              <a:rPr sz="1100" b="0" i="0" dirty="0" err="1">
                <a:latin typeface="Calibri"/>
              </a:rPr>
              <a:t>random_state</a:t>
            </a:r>
            <a:r>
              <a:rPr sz="1100" b="0" i="0" dirty="0">
                <a:latin typeface="Calibri"/>
              </a:rPr>
              <a:t>=42)
Preserves class ratio in each fold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508A25-5193-B113-FA6E-CA9F8542079B}"/>
              </a:ext>
            </a:extLst>
          </p:cNvPr>
          <p:cNvSpPr txBox="1"/>
          <p:nvPr/>
        </p:nvSpPr>
        <p:spPr>
          <a:xfrm>
            <a:off x="4675632" y="31565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59E0B"/>
                </a:solidFill>
              </a:rPr>
              <a:t>Hyperparameter Search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D8CA77-E56A-3226-B1C2-2BF6DF5D1541}"/>
              </a:ext>
            </a:extLst>
          </p:cNvPr>
          <p:cNvSpPr txBox="1"/>
          <p:nvPr/>
        </p:nvSpPr>
        <p:spPr>
          <a:xfrm>
            <a:off x="4675632" y="3376462"/>
            <a:ext cx="6949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latin typeface="Calibri"/>
              </a:rPr>
              <a:t>RandomizedSearchCV</a:t>
            </a:r>
            <a:r>
              <a:rPr sz="1100" b="0" i="0" dirty="0">
                <a:latin typeface="Calibri"/>
              </a:rPr>
              <a:t>(</a:t>
            </a:r>
            <a:r>
              <a:rPr sz="1100" b="0" i="0" dirty="0" err="1">
                <a:latin typeface="Calibri"/>
              </a:rPr>
              <a:t>n_iter</a:t>
            </a:r>
            <a:r>
              <a:rPr sz="1100" b="0" i="0" dirty="0">
                <a:latin typeface="Calibri"/>
              </a:rPr>
              <a:t>=20, scoring='accuracy', </a:t>
            </a:r>
            <a:r>
              <a:rPr sz="1100" b="0" i="0" dirty="0" err="1">
                <a:latin typeface="Calibri"/>
              </a:rPr>
              <a:t>n_jobs</a:t>
            </a:r>
            <a:r>
              <a:rPr sz="1100" b="0" i="0" dirty="0">
                <a:latin typeface="Calibri"/>
              </a:rPr>
              <a:t>=-1)
Separate search spaces per model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C629765-820B-8A86-839E-1AF91A538762}"/>
              </a:ext>
            </a:extLst>
          </p:cNvPr>
          <p:cNvSpPr txBox="1"/>
          <p:nvPr/>
        </p:nvSpPr>
        <p:spPr>
          <a:xfrm>
            <a:off x="4675632" y="3837426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0B981"/>
                </a:solidFill>
              </a:rPr>
              <a:t>Model Selection Criterion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9AB118-FD1E-366A-B8AB-97D9919AB0A6}"/>
              </a:ext>
            </a:extLst>
          </p:cNvPr>
          <p:cNvSpPr txBox="1"/>
          <p:nvPr/>
        </p:nvSpPr>
        <p:spPr>
          <a:xfrm>
            <a:off x="4675632" y="4043114"/>
            <a:ext cx="6949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latin typeface="Calibri"/>
              </a:rPr>
              <a:t>best_name</a:t>
            </a:r>
            <a:r>
              <a:rPr sz="1100" b="0" i="0" dirty="0">
                <a:latin typeface="Calibri"/>
              </a:rPr>
              <a:t> = max(results, key=lambda k: results[k]['</a:t>
            </a:r>
            <a:r>
              <a:rPr sz="1100" b="0" i="0" dirty="0" err="1">
                <a:latin typeface="Calibri"/>
              </a:rPr>
              <a:t>cv_accuracy</a:t>
            </a:r>
            <a:r>
              <a:rPr sz="1100" b="0" i="0" dirty="0">
                <a:latin typeface="Calibri"/>
              </a:rPr>
              <a:t>'])
CV accuracy used — not test accuracy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1B7E58-AA90-DE85-C5B1-5BA91B7F7D18}"/>
              </a:ext>
            </a:extLst>
          </p:cNvPr>
          <p:cNvSpPr txBox="1"/>
          <p:nvPr/>
        </p:nvSpPr>
        <p:spPr>
          <a:xfrm>
            <a:off x="4675632" y="4521533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F4444"/>
                </a:solidFill>
              </a:rPr>
              <a:t>Reproducibility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C7CF64-A849-FAAD-EB10-60A43922643E}"/>
              </a:ext>
            </a:extLst>
          </p:cNvPr>
          <p:cNvSpPr txBox="1"/>
          <p:nvPr/>
        </p:nvSpPr>
        <p:spPr>
          <a:xfrm>
            <a:off x="4663440" y="4770518"/>
            <a:ext cx="6949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latin typeface="Calibri"/>
              </a:rPr>
              <a:t>RANDOM_STATE = 42 used throughout
for split, SMOTE, CV, and model </a:t>
            </a:r>
            <a:r>
              <a:rPr sz="1100" b="0" i="0" dirty="0" err="1">
                <a:latin typeface="Calibri"/>
              </a:rPr>
              <a:t>initialisation</a:t>
            </a:r>
            <a:endParaRPr sz="1100" b="0" i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882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6F1036-E7A2-880A-64CA-544A6FC57A22}"/>
              </a:ext>
            </a:extLst>
          </p:cNvPr>
          <p:cNvSpPr txBox="1"/>
          <p:nvPr/>
        </p:nvSpPr>
        <p:spPr>
          <a:xfrm>
            <a:off x="22860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Hyperparameter Tuning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A0FD28-96EF-A208-37AB-D42AEB669028}"/>
              </a:ext>
            </a:extLst>
          </p:cNvPr>
          <p:cNvSpPr txBox="1"/>
          <p:nvPr/>
        </p:nvSpPr>
        <p:spPr>
          <a:xfrm>
            <a:off x="228600" y="65836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RandomizedSearchCV</a:t>
            </a:r>
            <a:r>
              <a:rPr sz="1200" b="0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— 20 random combinations per model — 5-fold CV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CA699D-1EE3-83CC-2A04-F4E2C3F45FA4}"/>
              </a:ext>
            </a:extLst>
          </p:cNvPr>
          <p:cNvSpPr/>
          <p:nvPr/>
        </p:nvSpPr>
        <p:spPr>
          <a:xfrm>
            <a:off x="274320" y="1124899"/>
            <a:ext cx="3749039" cy="5394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AA73C1-320D-FE35-3059-C816EB141C07}"/>
              </a:ext>
            </a:extLst>
          </p:cNvPr>
          <p:cNvSpPr/>
          <p:nvPr/>
        </p:nvSpPr>
        <p:spPr>
          <a:xfrm>
            <a:off x="274320" y="1115568"/>
            <a:ext cx="3749039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CCCA6-3E89-176D-2D8A-8DE394D69042}"/>
              </a:ext>
            </a:extLst>
          </p:cNvPr>
          <p:cNvSpPr txBox="1"/>
          <p:nvPr/>
        </p:nvSpPr>
        <p:spPr>
          <a:xfrm>
            <a:off x="402336" y="1152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🌲  Decision Tree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749F6E-2B93-EDB3-3421-C51470682646}"/>
              </a:ext>
            </a:extLst>
          </p:cNvPr>
          <p:cNvSpPr txBox="1"/>
          <p:nvPr/>
        </p:nvSpPr>
        <p:spPr>
          <a:xfrm>
            <a:off x="402336" y="1591056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DecisionTreeClassifier</a:t>
            </a:r>
            <a:endParaRPr sz="1400" b="0" i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E3FDC-2612-8F7E-E38E-4C00266375D4}"/>
              </a:ext>
            </a:extLst>
          </p:cNvPr>
          <p:cNvSpPr/>
          <p:nvPr/>
        </p:nvSpPr>
        <p:spPr>
          <a:xfrm>
            <a:off x="365760" y="1938528"/>
            <a:ext cx="3566160" cy="777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E38DC3-98E8-EA3D-65FC-6F2C4BDFB2F2}"/>
              </a:ext>
            </a:extLst>
          </p:cNvPr>
          <p:cNvSpPr txBox="1"/>
          <p:nvPr/>
        </p:nvSpPr>
        <p:spPr>
          <a:xfrm>
            <a:off x="475488" y="1984248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criterion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BD204F-541E-E0C5-14B7-ED3FB22D2144}"/>
              </a:ext>
            </a:extLst>
          </p:cNvPr>
          <p:cNvSpPr txBox="1"/>
          <p:nvPr/>
        </p:nvSpPr>
        <p:spPr>
          <a:xfrm>
            <a:off x="475488" y="2286000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["</a:t>
            </a:r>
            <a:r>
              <a:rPr sz="1200" b="0" i="0" dirty="0" err="1">
                <a:solidFill>
                  <a:schemeClr val="accent2">
                    <a:lumMod val="50000"/>
                  </a:schemeClr>
                </a:solidFill>
                <a:latin typeface="Calibri"/>
              </a:rPr>
              <a:t>gini</a:t>
            </a:r>
            <a:r>
              <a:rPr sz="12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", "entropy"]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0E254A-1838-02E4-D100-47FB1B40076F}"/>
              </a:ext>
            </a:extLst>
          </p:cNvPr>
          <p:cNvSpPr/>
          <p:nvPr/>
        </p:nvSpPr>
        <p:spPr>
          <a:xfrm>
            <a:off x="365760" y="2834640"/>
            <a:ext cx="3566160" cy="777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FF736-91FB-1E65-1EB4-91DB47A680B4}"/>
              </a:ext>
            </a:extLst>
          </p:cNvPr>
          <p:cNvSpPr txBox="1"/>
          <p:nvPr/>
        </p:nvSpPr>
        <p:spPr>
          <a:xfrm>
            <a:off x="475488" y="2880360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max_depth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291E00-51CD-E70F-3555-C61E375067F9}"/>
              </a:ext>
            </a:extLst>
          </p:cNvPr>
          <p:cNvSpPr txBox="1"/>
          <p:nvPr/>
        </p:nvSpPr>
        <p:spPr>
          <a:xfrm>
            <a:off x="475488" y="318211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[3, 5, 7, 10, None]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A0B710-581D-327C-4F8D-3E7E2F29729A}"/>
              </a:ext>
            </a:extLst>
          </p:cNvPr>
          <p:cNvSpPr/>
          <p:nvPr/>
        </p:nvSpPr>
        <p:spPr>
          <a:xfrm>
            <a:off x="365760" y="3730752"/>
            <a:ext cx="3566160" cy="777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D71865-BB34-0CF5-4B4B-8D3C67407EBE}"/>
              </a:ext>
            </a:extLst>
          </p:cNvPr>
          <p:cNvSpPr txBox="1"/>
          <p:nvPr/>
        </p:nvSpPr>
        <p:spPr>
          <a:xfrm>
            <a:off x="475488" y="3776472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min_samples_split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0222BF-C2F8-D79F-8245-D9E91E22BD71}"/>
              </a:ext>
            </a:extLst>
          </p:cNvPr>
          <p:cNvSpPr txBox="1"/>
          <p:nvPr/>
        </p:nvSpPr>
        <p:spPr>
          <a:xfrm>
            <a:off x="475488" y="40782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[2, 5, 10]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E34553-29A2-53B0-1D2B-46E101673E46}"/>
              </a:ext>
            </a:extLst>
          </p:cNvPr>
          <p:cNvSpPr/>
          <p:nvPr/>
        </p:nvSpPr>
        <p:spPr>
          <a:xfrm>
            <a:off x="365760" y="4626864"/>
            <a:ext cx="3566160" cy="777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39F626-E9E4-B812-4F26-228FAC963689}"/>
              </a:ext>
            </a:extLst>
          </p:cNvPr>
          <p:cNvSpPr txBox="1"/>
          <p:nvPr/>
        </p:nvSpPr>
        <p:spPr>
          <a:xfrm>
            <a:off x="475488" y="4672583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min_samples_leaf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91B601-22AC-0D65-395E-067C74D4D2C1}"/>
              </a:ext>
            </a:extLst>
          </p:cNvPr>
          <p:cNvSpPr txBox="1"/>
          <p:nvPr/>
        </p:nvSpPr>
        <p:spPr>
          <a:xfrm>
            <a:off x="475488" y="4974336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[1, 2, 4]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0A7347-85BF-AFEB-4818-8522842400D7}"/>
              </a:ext>
            </a:extLst>
          </p:cNvPr>
          <p:cNvSpPr/>
          <p:nvPr/>
        </p:nvSpPr>
        <p:spPr>
          <a:xfrm>
            <a:off x="4187952" y="1115568"/>
            <a:ext cx="3749039" cy="5394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3EDEA7B-8A70-B230-932A-19FD47F987FC}"/>
              </a:ext>
            </a:extLst>
          </p:cNvPr>
          <p:cNvSpPr/>
          <p:nvPr/>
        </p:nvSpPr>
        <p:spPr>
          <a:xfrm>
            <a:off x="4187952" y="1115568"/>
            <a:ext cx="3749039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813524-87CA-9931-CD88-5D9C9DB5A9C5}"/>
              </a:ext>
            </a:extLst>
          </p:cNvPr>
          <p:cNvSpPr txBox="1"/>
          <p:nvPr/>
        </p:nvSpPr>
        <p:spPr>
          <a:xfrm>
            <a:off x="4315968" y="1152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🌳  Random Forest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9B9AEF-A2DA-4D50-B4B7-55276E6A7BF2}"/>
              </a:ext>
            </a:extLst>
          </p:cNvPr>
          <p:cNvSpPr txBox="1"/>
          <p:nvPr/>
        </p:nvSpPr>
        <p:spPr>
          <a:xfrm>
            <a:off x="4315968" y="1591056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RandomForestClassifier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D11A3B4-975B-EF5A-2A5B-34429CF45EBA}"/>
              </a:ext>
            </a:extLst>
          </p:cNvPr>
          <p:cNvSpPr/>
          <p:nvPr/>
        </p:nvSpPr>
        <p:spPr>
          <a:xfrm>
            <a:off x="4279392" y="1938528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D1E8FA-E7CC-BE03-2B7D-D3D435914AFD}"/>
              </a:ext>
            </a:extLst>
          </p:cNvPr>
          <p:cNvSpPr txBox="1"/>
          <p:nvPr/>
        </p:nvSpPr>
        <p:spPr>
          <a:xfrm>
            <a:off x="4389120" y="1984248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n_estimators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38A19E-A1DB-585E-5CCB-07E98B3AB89E}"/>
              </a:ext>
            </a:extLst>
          </p:cNvPr>
          <p:cNvSpPr txBox="1"/>
          <p:nvPr/>
        </p:nvSpPr>
        <p:spPr>
          <a:xfrm>
            <a:off x="4389120" y="228600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[50, 100, 200]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8F68D-55B0-B290-EF2B-267F4952B627}"/>
              </a:ext>
            </a:extLst>
          </p:cNvPr>
          <p:cNvSpPr/>
          <p:nvPr/>
        </p:nvSpPr>
        <p:spPr>
          <a:xfrm>
            <a:off x="4279392" y="2834640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DCCBFA-0F8E-D762-E18F-6F8323FEEDFC}"/>
              </a:ext>
            </a:extLst>
          </p:cNvPr>
          <p:cNvSpPr txBox="1"/>
          <p:nvPr/>
        </p:nvSpPr>
        <p:spPr>
          <a:xfrm>
            <a:off x="4389120" y="2880360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max_depth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8B134F-FA54-C22E-9A3F-2A0FC7113AD1}"/>
              </a:ext>
            </a:extLst>
          </p:cNvPr>
          <p:cNvSpPr txBox="1"/>
          <p:nvPr/>
        </p:nvSpPr>
        <p:spPr>
          <a:xfrm>
            <a:off x="4389120" y="318211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[5, 10, 20, None]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AEB7B4-72C4-4222-B38B-22CEA4FC16EB}"/>
              </a:ext>
            </a:extLst>
          </p:cNvPr>
          <p:cNvSpPr/>
          <p:nvPr/>
        </p:nvSpPr>
        <p:spPr>
          <a:xfrm>
            <a:off x="4279392" y="3730752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114CD-22C4-AEDC-EB93-12091783D1F1}"/>
              </a:ext>
            </a:extLst>
          </p:cNvPr>
          <p:cNvSpPr txBox="1"/>
          <p:nvPr/>
        </p:nvSpPr>
        <p:spPr>
          <a:xfrm>
            <a:off x="4389120" y="3776472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min_samples_split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462EF0-3476-A86F-F97F-3E48E4ACEC8D}"/>
              </a:ext>
            </a:extLst>
          </p:cNvPr>
          <p:cNvSpPr txBox="1"/>
          <p:nvPr/>
        </p:nvSpPr>
        <p:spPr>
          <a:xfrm>
            <a:off x="4389120" y="40782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[2, 5, 10]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9E60093-A418-928D-2B19-4DB48AC1F189}"/>
              </a:ext>
            </a:extLst>
          </p:cNvPr>
          <p:cNvSpPr/>
          <p:nvPr/>
        </p:nvSpPr>
        <p:spPr>
          <a:xfrm>
            <a:off x="4279392" y="4626864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0B7386-8B52-FB36-5D87-E61BAC477EFF}"/>
              </a:ext>
            </a:extLst>
          </p:cNvPr>
          <p:cNvSpPr txBox="1"/>
          <p:nvPr/>
        </p:nvSpPr>
        <p:spPr>
          <a:xfrm>
            <a:off x="4389120" y="4672583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min_samples_leaf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7A9563-5B72-8C48-7F30-48656E8D27DC}"/>
              </a:ext>
            </a:extLst>
          </p:cNvPr>
          <p:cNvSpPr txBox="1"/>
          <p:nvPr/>
        </p:nvSpPr>
        <p:spPr>
          <a:xfrm>
            <a:off x="4389120" y="4974336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[1, 2, 4]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F3238CD-BE4E-3419-0846-D281404DF6C2}"/>
              </a:ext>
            </a:extLst>
          </p:cNvPr>
          <p:cNvSpPr/>
          <p:nvPr/>
        </p:nvSpPr>
        <p:spPr>
          <a:xfrm>
            <a:off x="4279392" y="5522976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811044A-9998-6592-51CD-2088D670647E}"/>
              </a:ext>
            </a:extLst>
          </p:cNvPr>
          <p:cNvSpPr txBox="1"/>
          <p:nvPr/>
        </p:nvSpPr>
        <p:spPr>
          <a:xfrm>
            <a:off x="4389120" y="5568696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max_features</a:t>
            </a:r>
            <a:endParaRPr sz="12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24CFCC-1E9B-C46A-FE37-D510D9BE87A5}"/>
              </a:ext>
            </a:extLst>
          </p:cNvPr>
          <p:cNvSpPr txBox="1"/>
          <p:nvPr/>
        </p:nvSpPr>
        <p:spPr>
          <a:xfrm>
            <a:off x="4389120" y="5870448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["sqrt", "log2"]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319467D-890E-01E9-566F-9EDD0520CA98}"/>
              </a:ext>
            </a:extLst>
          </p:cNvPr>
          <p:cNvSpPr/>
          <p:nvPr/>
        </p:nvSpPr>
        <p:spPr>
          <a:xfrm>
            <a:off x="8110727" y="1115568"/>
            <a:ext cx="3749039" cy="5394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19C5D47-C66A-9CCF-13B3-F325684E70A1}"/>
              </a:ext>
            </a:extLst>
          </p:cNvPr>
          <p:cNvSpPr/>
          <p:nvPr/>
        </p:nvSpPr>
        <p:spPr>
          <a:xfrm>
            <a:off x="8110727" y="1115568"/>
            <a:ext cx="3749039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D9E818-6334-C8CD-A835-46E364E6D496}"/>
              </a:ext>
            </a:extLst>
          </p:cNvPr>
          <p:cNvSpPr txBox="1"/>
          <p:nvPr/>
        </p:nvSpPr>
        <p:spPr>
          <a:xfrm>
            <a:off x="8238744" y="1152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XGBoost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A6E607-9DAB-D525-06A2-D0915A07DA8D}"/>
              </a:ext>
            </a:extLst>
          </p:cNvPr>
          <p:cNvSpPr txBox="1"/>
          <p:nvPr/>
        </p:nvSpPr>
        <p:spPr>
          <a:xfrm>
            <a:off x="8238744" y="1591056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XGBClassifier</a:t>
            </a:r>
            <a:endParaRPr sz="1400" b="0" i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0208C74-E00C-7C69-B61F-878D57A7145B}"/>
              </a:ext>
            </a:extLst>
          </p:cNvPr>
          <p:cNvSpPr/>
          <p:nvPr/>
        </p:nvSpPr>
        <p:spPr>
          <a:xfrm>
            <a:off x="8202167" y="1938528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071F467-AC66-9CA4-704D-A4CD842D9EF4}"/>
              </a:ext>
            </a:extLst>
          </p:cNvPr>
          <p:cNvSpPr txBox="1"/>
          <p:nvPr/>
        </p:nvSpPr>
        <p:spPr>
          <a:xfrm>
            <a:off x="8311896" y="1984248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n_estimators</a:t>
            </a:r>
            <a:endParaRPr sz="1200" b="1" i="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8B8DE27-4572-238E-74D2-D15E8B7AE627}"/>
              </a:ext>
            </a:extLst>
          </p:cNvPr>
          <p:cNvSpPr txBox="1"/>
          <p:nvPr/>
        </p:nvSpPr>
        <p:spPr>
          <a:xfrm>
            <a:off x="8311896" y="228600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[50, 100, 200]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6F45E10-70F0-96FF-38E2-61DCFDA83FD1}"/>
              </a:ext>
            </a:extLst>
          </p:cNvPr>
          <p:cNvSpPr/>
          <p:nvPr/>
        </p:nvSpPr>
        <p:spPr>
          <a:xfrm>
            <a:off x="8202167" y="2834640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8C0EFE7-965A-C133-37D4-D3EE44EC60CE}"/>
              </a:ext>
            </a:extLst>
          </p:cNvPr>
          <p:cNvSpPr txBox="1"/>
          <p:nvPr/>
        </p:nvSpPr>
        <p:spPr>
          <a:xfrm>
            <a:off x="8311896" y="2880360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max_depth</a:t>
            </a:r>
            <a:endParaRPr sz="1200" b="1" i="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71C9D8-1FE2-1A5A-76BD-C490E2D9D2D2}"/>
              </a:ext>
            </a:extLst>
          </p:cNvPr>
          <p:cNvSpPr txBox="1"/>
          <p:nvPr/>
        </p:nvSpPr>
        <p:spPr>
          <a:xfrm>
            <a:off x="8311896" y="318211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[3, 5, 7, 10]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D0AE900-EC70-9E28-F284-C544BA6EDA85}"/>
              </a:ext>
            </a:extLst>
          </p:cNvPr>
          <p:cNvSpPr/>
          <p:nvPr/>
        </p:nvSpPr>
        <p:spPr>
          <a:xfrm>
            <a:off x="8202167" y="3730752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B627C31-D045-CE78-AD81-D5333F23132D}"/>
              </a:ext>
            </a:extLst>
          </p:cNvPr>
          <p:cNvSpPr txBox="1"/>
          <p:nvPr/>
        </p:nvSpPr>
        <p:spPr>
          <a:xfrm>
            <a:off x="8311896" y="3776472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learning_rate</a:t>
            </a:r>
            <a:endParaRPr sz="1200" b="1" i="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DCD34FB-3FC2-4737-AA3E-4DD863E634BC}"/>
              </a:ext>
            </a:extLst>
          </p:cNvPr>
          <p:cNvSpPr txBox="1"/>
          <p:nvPr/>
        </p:nvSpPr>
        <p:spPr>
          <a:xfrm>
            <a:off x="8311896" y="40782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[0.01, 0.05, 0.1, 0.2]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AE2A31B-3213-151F-7100-4192C454EB58}"/>
              </a:ext>
            </a:extLst>
          </p:cNvPr>
          <p:cNvSpPr/>
          <p:nvPr/>
        </p:nvSpPr>
        <p:spPr>
          <a:xfrm>
            <a:off x="8202167" y="4626864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AAD38D8-2760-D802-7052-12C815C6352E}"/>
              </a:ext>
            </a:extLst>
          </p:cNvPr>
          <p:cNvSpPr txBox="1"/>
          <p:nvPr/>
        </p:nvSpPr>
        <p:spPr>
          <a:xfrm>
            <a:off x="8311896" y="4672583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subsample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D9D524B-6CD6-79E4-0B29-4C7335FB158D}"/>
              </a:ext>
            </a:extLst>
          </p:cNvPr>
          <p:cNvSpPr txBox="1"/>
          <p:nvPr/>
        </p:nvSpPr>
        <p:spPr>
          <a:xfrm>
            <a:off x="8311896" y="4974336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[0.6, 0.8, 1.0]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43F7CA3-D3ED-E70A-B41F-9BEE9FC5DC73}"/>
              </a:ext>
            </a:extLst>
          </p:cNvPr>
          <p:cNvSpPr/>
          <p:nvPr/>
        </p:nvSpPr>
        <p:spPr>
          <a:xfrm>
            <a:off x="8202167" y="5522976"/>
            <a:ext cx="356616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D891DCB-0A06-6627-AF55-8E84B8F9432E}"/>
              </a:ext>
            </a:extLst>
          </p:cNvPr>
          <p:cNvSpPr txBox="1"/>
          <p:nvPr/>
        </p:nvSpPr>
        <p:spPr>
          <a:xfrm>
            <a:off x="8311896" y="5568696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colsample_bytree</a:t>
            </a:r>
            <a:endParaRPr sz="1200" b="1" i="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D79F54B-D68D-3564-53BE-679F66AD70CD}"/>
              </a:ext>
            </a:extLst>
          </p:cNvPr>
          <p:cNvSpPr txBox="1"/>
          <p:nvPr/>
        </p:nvSpPr>
        <p:spPr>
          <a:xfrm>
            <a:off x="8311896" y="5870448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[0.6, 0.8, 1.0]</a:t>
            </a:r>
          </a:p>
        </p:txBody>
      </p:sp>
    </p:spTree>
    <p:extLst>
      <p:ext uri="{BB962C8B-B14F-4D97-AF65-F5344CB8AC3E}">
        <p14:creationId xmlns:p14="http://schemas.microsoft.com/office/powerpoint/2010/main" val="57202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5D117DB-EF40-9382-0E47-30E7BF346B0B}"/>
              </a:ext>
            </a:extLst>
          </p:cNvPr>
          <p:cNvSpPr txBox="1"/>
          <p:nvPr/>
        </p:nvSpPr>
        <p:spPr>
          <a:xfrm>
            <a:off x="22860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Model Evaluation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1496F-4DC5-0DE2-96E0-9D062021D2E0}"/>
              </a:ext>
            </a:extLst>
          </p:cNvPr>
          <p:cNvSpPr txBox="1"/>
          <p:nvPr/>
        </p:nvSpPr>
        <p:spPr>
          <a:xfrm>
            <a:off x="228600" y="65836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Metrics computed on the held-out test set (20% of data, untouched during training)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F99862-4913-E5FB-DAD9-B5D78C7CAE23}"/>
              </a:ext>
            </a:extLst>
          </p:cNvPr>
          <p:cNvSpPr txBox="1"/>
          <p:nvPr/>
        </p:nvSpPr>
        <p:spPr>
          <a:xfrm>
            <a:off x="457200" y="116128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📊  Evaluation Metrics Used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0ACD22-C9D1-D53E-672C-132D210BF687}"/>
              </a:ext>
            </a:extLst>
          </p:cNvPr>
          <p:cNvSpPr txBox="1"/>
          <p:nvPr/>
        </p:nvSpPr>
        <p:spPr>
          <a:xfrm>
            <a:off x="1090748" y="155771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3B82F6"/>
                </a:solidFill>
                <a:latin typeface="Calibri"/>
              </a:rPr>
              <a:t>Accuracy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E3221E-CF8F-D57D-2D28-3F8469AE670E}"/>
              </a:ext>
            </a:extLst>
          </p:cNvPr>
          <p:cNvSpPr txBox="1"/>
          <p:nvPr/>
        </p:nvSpPr>
        <p:spPr>
          <a:xfrm>
            <a:off x="1097280" y="19964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accuracy_score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(</a:t>
            </a:r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y_test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y_pred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E4B4A3-AE7A-EBDF-2391-7C3F6548C87C}"/>
              </a:ext>
            </a:extLst>
          </p:cNvPr>
          <p:cNvSpPr txBox="1"/>
          <p:nvPr/>
        </p:nvSpPr>
        <p:spPr>
          <a:xfrm>
            <a:off x="1090748" y="2430518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0B981"/>
                </a:solidFill>
                <a:latin typeface="Calibri"/>
              </a:rPr>
              <a:t>Precision (0 &amp; 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66D3FD-B492-CBBA-4B7B-8BCD6C0DAF7A}"/>
              </a:ext>
            </a:extLst>
          </p:cNvPr>
          <p:cNvSpPr txBox="1"/>
          <p:nvPr/>
        </p:nvSpPr>
        <p:spPr>
          <a:xfrm>
            <a:off x="1081417" y="2839545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classification_report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(... </a:t>
            </a:r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output_dict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=True)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FDA47B-0A60-0CA4-13F1-9D42D9FC5E1A}"/>
              </a:ext>
            </a:extLst>
          </p:cNvPr>
          <p:cNvSpPr txBox="1"/>
          <p:nvPr/>
        </p:nvSpPr>
        <p:spPr>
          <a:xfrm>
            <a:off x="1090748" y="3207757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9E0B"/>
                </a:solidFill>
                <a:latin typeface="Calibri"/>
              </a:rPr>
              <a:t>Recall (0 &amp; 1)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7F0053-1A07-0F63-DCBC-B1DE1C6F4774}"/>
              </a:ext>
            </a:extLst>
          </p:cNvPr>
          <p:cNvSpPr txBox="1"/>
          <p:nvPr/>
        </p:nvSpPr>
        <p:spPr>
          <a:xfrm>
            <a:off x="1097280" y="3582747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Per-class recall from </a:t>
            </a:r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classification_report</a:t>
            </a:r>
            <a:endParaRPr sz="1200" b="0" i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3D9B61-5851-CF1A-E941-04AF9A98AFC6}"/>
              </a:ext>
            </a:extLst>
          </p:cNvPr>
          <p:cNvSpPr txBox="1"/>
          <p:nvPr/>
        </p:nvSpPr>
        <p:spPr>
          <a:xfrm>
            <a:off x="1188720" y="3945523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8B5CF6"/>
                </a:solidFill>
                <a:latin typeface="Calibri"/>
              </a:rPr>
              <a:t>F1-Score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BA3F39-332B-CA34-6A21-0570C118DFF1}"/>
              </a:ext>
            </a:extLst>
          </p:cNvPr>
          <p:cNvSpPr txBox="1"/>
          <p:nvPr/>
        </p:nvSpPr>
        <p:spPr>
          <a:xfrm>
            <a:off x="1081417" y="4288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Per-class + macro + weighted avg F1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46EA7D-A8C4-820C-878E-DF0D43C250CF}"/>
              </a:ext>
            </a:extLst>
          </p:cNvPr>
          <p:cNvSpPr txBox="1"/>
          <p:nvPr/>
        </p:nvSpPr>
        <p:spPr>
          <a:xfrm>
            <a:off x="1097280" y="46542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F4444"/>
                </a:solidFill>
                <a:latin typeface="Calibri"/>
              </a:rPr>
              <a:t>Confusion Matrix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707495-E44B-430D-AE43-7EC58A02CC89}"/>
              </a:ext>
            </a:extLst>
          </p:cNvPr>
          <p:cNvSpPr txBox="1"/>
          <p:nvPr/>
        </p:nvSpPr>
        <p:spPr>
          <a:xfrm>
            <a:off x="1097280" y="4943541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confusion_matrix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(</a:t>
            </a:r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y_test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y_pred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E0AD1E-3DEF-A23E-7F96-E1DF678A1E68}"/>
              </a:ext>
            </a:extLst>
          </p:cNvPr>
          <p:cNvSpPr txBox="1"/>
          <p:nvPr/>
        </p:nvSpPr>
        <p:spPr>
          <a:xfrm>
            <a:off x="1090748" y="540990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6B6D4"/>
                </a:solidFill>
                <a:latin typeface="Calibri"/>
              </a:rPr>
              <a:t>CV Accuracy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734557-41BE-AFC5-B38D-D16A24911873}"/>
              </a:ext>
            </a:extLst>
          </p:cNvPr>
          <p:cNvSpPr txBox="1"/>
          <p:nvPr/>
        </p:nvSpPr>
        <p:spPr>
          <a:xfrm>
            <a:off x="1090748" y="570194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RandomizedSearchCV.best_score</a:t>
            </a:r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_ (5-fold)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070015-9292-0570-6C19-01EC8D959769}"/>
              </a:ext>
            </a:extLst>
          </p:cNvPr>
          <p:cNvSpPr/>
          <p:nvPr/>
        </p:nvSpPr>
        <p:spPr>
          <a:xfrm>
            <a:off x="5852160" y="1115568"/>
            <a:ext cx="6035040" cy="5394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F44AB0-831C-92BE-01BE-145D7E24A3FA}"/>
              </a:ext>
            </a:extLst>
          </p:cNvPr>
          <p:cNvSpPr txBox="1"/>
          <p:nvPr/>
        </p:nvSpPr>
        <p:spPr>
          <a:xfrm>
            <a:off x="6035040" y="11612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📋  Confusion Matrix 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251ECE-4ACD-9262-49B7-413C69D91B97}"/>
              </a:ext>
            </a:extLst>
          </p:cNvPr>
          <p:cNvSpPr txBox="1"/>
          <p:nvPr/>
        </p:nvSpPr>
        <p:spPr>
          <a:xfrm>
            <a:off x="6949440" y="166420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Predicted →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D1BE2B-1C5A-B61C-7CFD-F3706A3FE2A9}"/>
              </a:ext>
            </a:extLst>
          </p:cNvPr>
          <p:cNvSpPr txBox="1"/>
          <p:nvPr/>
        </p:nvSpPr>
        <p:spPr>
          <a:xfrm>
            <a:off x="7360920" y="2029968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0B981"/>
                </a:solidFill>
                <a:latin typeface="Calibri"/>
              </a:rPr>
              <a:t>No Tsunami (0)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6AB31B-342D-1496-A6F3-09FE065F2694}"/>
              </a:ext>
            </a:extLst>
          </p:cNvPr>
          <p:cNvSpPr txBox="1"/>
          <p:nvPr/>
        </p:nvSpPr>
        <p:spPr>
          <a:xfrm>
            <a:off x="9235440" y="2029968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F4444"/>
                </a:solidFill>
                <a:latin typeface="Calibri"/>
              </a:rPr>
              <a:t>Tsunami (1)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76CA36-FE39-C01D-C59E-3DABA882BC65}"/>
              </a:ext>
            </a:extLst>
          </p:cNvPr>
          <p:cNvSpPr txBox="1"/>
          <p:nvPr/>
        </p:nvSpPr>
        <p:spPr>
          <a:xfrm>
            <a:off x="6240780" y="2312313"/>
            <a:ext cx="822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Actual
↓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CEB1F1-C1AC-4E3E-D697-9A43BC377587}"/>
              </a:ext>
            </a:extLst>
          </p:cNvPr>
          <p:cNvSpPr txBox="1"/>
          <p:nvPr/>
        </p:nvSpPr>
        <p:spPr>
          <a:xfrm>
            <a:off x="5852160" y="274320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0B981"/>
                </a:solidFill>
                <a:latin typeface="Calibri"/>
              </a:rPr>
              <a:t>No Tsunami (0)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DD2955-5FCA-0DF0-46E2-778273278AA8}"/>
              </a:ext>
            </a:extLst>
          </p:cNvPr>
          <p:cNvSpPr txBox="1"/>
          <p:nvPr/>
        </p:nvSpPr>
        <p:spPr>
          <a:xfrm>
            <a:off x="5852160" y="370332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EF4444"/>
                </a:solidFill>
                <a:latin typeface="Calibri"/>
              </a:rPr>
              <a:t>Tsunami (1)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C1A9A85-5E13-71B9-E252-503B81C4F68E}"/>
              </a:ext>
            </a:extLst>
          </p:cNvPr>
          <p:cNvSpPr/>
          <p:nvPr/>
        </p:nvSpPr>
        <p:spPr>
          <a:xfrm>
            <a:off x="7360920" y="2395728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60B9B8-C758-7D4C-2D11-FEA8141AF5B4}"/>
              </a:ext>
            </a:extLst>
          </p:cNvPr>
          <p:cNvSpPr txBox="1"/>
          <p:nvPr/>
        </p:nvSpPr>
        <p:spPr>
          <a:xfrm>
            <a:off x="7434072" y="2441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TN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825225-924E-7C29-0261-AD81D6FC9105}"/>
              </a:ext>
            </a:extLst>
          </p:cNvPr>
          <p:cNvSpPr txBox="1"/>
          <p:nvPr/>
        </p:nvSpPr>
        <p:spPr>
          <a:xfrm>
            <a:off x="7434072" y="2834640"/>
            <a:ext cx="1645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chemeClr val="bg1"/>
                </a:solidFill>
                <a:latin typeface="Calibri"/>
              </a:rPr>
              <a:t>Correct
No Tsunami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C11C958-EBDD-4F62-62D0-CFADA493EDF3}"/>
              </a:ext>
            </a:extLst>
          </p:cNvPr>
          <p:cNvSpPr/>
          <p:nvPr/>
        </p:nvSpPr>
        <p:spPr>
          <a:xfrm>
            <a:off x="9235440" y="2395728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B46A044-BB56-2959-825E-BB62F7E431A2}"/>
              </a:ext>
            </a:extLst>
          </p:cNvPr>
          <p:cNvSpPr txBox="1"/>
          <p:nvPr/>
        </p:nvSpPr>
        <p:spPr>
          <a:xfrm>
            <a:off x="9308592" y="2441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FP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205BEC7-1390-5197-5759-8C98552450EC}"/>
              </a:ext>
            </a:extLst>
          </p:cNvPr>
          <p:cNvSpPr txBox="1"/>
          <p:nvPr/>
        </p:nvSpPr>
        <p:spPr>
          <a:xfrm>
            <a:off x="9308592" y="2834640"/>
            <a:ext cx="1645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chemeClr val="bg1"/>
                </a:solidFill>
                <a:latin typeface="Calibri"/>
              </a:rPr>
              <a:t>Wrong
Tsunami Alarm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04AB32E-895C-843C-EC7A-E0CCD2DB3EFA}"/>
              </a:ext>
            </a:extLst>
          </p:cNvPr>
          <p:cNvSpPr/>
          <p:nvPr/>
        </p:nvSpPr>
        <p:spPr>
          <a:xfrm>
            <a:off x="7360920" y="3364992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57AAA4D-8F4B-1202-66E8-E48BFF50935F}"/>
              </a:ext>
            </a:extLst>
          </p:cNvPr>
          <p:cNvSpPr txBox="1"/>
          <p:nvPr/>
        </p:nvSpPr>
        <p:spPr>
          <a:xfrm>
            <a:off x="7434072" y="34107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FN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2481657-B660-4BC3-2F40-74DDF8B2957B}"/>
              </a:ext>
            </a:extLst>
          </p:cNvPr>
          <p:cNvSpPr txBox="1"/>
          <p:nvPr/>
        </p:nvSpPr>
        <p:spPr>
          <a:xfrm>
            <a:off x="7434072" y="3803904"/>
            <a:ext cx="1645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chemeClr val="bg1"/>
                </a:solidFill>
                <a:latin typeface="Calibri"/>
              </a:rPr>
              <a:t>Missed
Tsunami!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64A0446-FA52-C25A-7C06-70C1F676976A}"/>
              </a:ext>
            </a:extLst>
          </p:cNvPr>
          <p:cNvSpPr/>
          <p:nvPr/>
        </p:nvSpPr>
        <p:spPr>
          <a:xfrm>
            <a:off x="9235440" y="3364992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7CA75A6-21DE-E9B8-4290-B9FB4140F68D}"/>
              </a:ext>
            </a:extLst>
          </p:cNvPr>
          <p:cNvSpPr txBox="1"/>
          <p:nvPr/>
        </p:nvSpPr>
        <p:spPr>
          <a:xfrm>
            <a:off x="9308592" y="34107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TP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26FEC30-22F4-4470-6C2F-3E9BF63458B4}"/>
              </a:ext>
            </a:extLst>
          </p:cNvPr>
          <p:cNvSpPr txBox="1"/>
          <p:nvPr/>
        </p:nvSpPr>
        <p:spPr>
          <a:xfrm>
            <a:off x="9308592" y="3803904"/>
            <a:ext cx="1645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chemeClr val="bg1"/>
                </a:solidFill>
                <a:latin typeface="Calibri"/>
              </a:rPr>
              <a:t>Correct
Tsunami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72F5E99-1778-5384-7202-588C285B82C4}"/>
              </a:ext>
            </a:extLst>
          </p:cNvPr>
          <p:cNvSpPr txBox="1"/>
          <p:nvPr/>
        </p:nvSpPr>
        <p:spPr>
          <a:xfrm>
            <a:off x="6035040" y="4343400"/>
            <a:ext cx="5577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Actual values: obtained during training execution
See: reports/confusion_matrix.png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1764FEB-210A-8067-8B9A-9371CDEDB6D8}"/>
              </a:ext>
            </a:extLst>
          </p:cNvPr>
          <p:cNvSpPr/>
          <p:nvPr/>
        </p:nvSpPr>
        <p:spPr>
          <a:xfrm>
            <a:off x="5897880" y="5029200"/>
            <a:ext cx="5943600" cy="13716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BC4E579-68B4-029F-E767-463CE9389163}"/>
              </a:ext>
            </a:extLst>
          </p:cNvPr>
          <p:cNvSpPr txBox="1"/>
          <p:nvPr/>
        </p:nvSpPr>
        <p:spPr>
          <a:xfrm>
            <a:off x="6080760" y="5074920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⚠️  Important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544737B-6CF7-A4B6-9373-3DAD69F4D1F3}"/>
              </a:ext>
            </a:extLst>
          </p:cNvPr>
          <p:cNvSpPr txBox="1"/>
          <p:nvPr/>
        </p:nvSpPr>
        <p:spPr>
          <a:xfrm>
            <a:off x="6080760" y="5468112"/>
            <a:ext cx="5577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Exact accuracy, precision, recall, and F1 values depend on the dataset version and training run. Refer to the generated classification_report_*.txt files in the reports/ folder for actual numeric results.</a:t>
            </a:r>
          </a:p>
        </p:txBody>
      </p:sp>
    </p:spTree>
    <p:extLst>
      <p:ext uri="{BB962C8B-B14F-4D97-AF65-F5344CB8AC3E}">
        <p14:creationId xmlns:p14="http://schemas.microsoft.com/office/powerpoint/2010/main" val="16180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4896FD-D846-1A74-DBCE-68ED37FDC2A4}"/>
              </a:ext>
            </a:extLst>
          </p:cNvPr>
          <p:cNvSpPr txBox="1"/>
          <p:nvPr/>
        </p:nvSpPr>
        <p:spPr>
          <a:xfrm>
            <a:off x="22860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FastAPI</a:t>
            </a:r>
            <a:r>
              <a:rPr sz="2800" b="1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Prediction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CBAA5-5BB3-57EE-B826-B824BB3AFBE5}"/>
              </a:ext>
            </a:extLst>
          </p:cNvPr>
          <p:cNvSpPr txBox="1"/>
          <p:nvPr/>
        </p:nvSpPr>
        <p:spPr>
          <a:xfrm>
            <a:off x="228600" y="658368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REST API backend serving the trained ML model  |  backend/app/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C85E6-36D8-8613-9B03-46F1EB6091D0}"/>
              </a:ext>
            </a:extLst>
          </p:cNvPr>
          <p:cNvSpPr/>
          <p:nvPr/>
        </p:nvSpPr>
        <p:spPr>
          <a:xfrm>
            <a:off x="274320" y="1115568"/>
            <a:ext cx="5394960" cy="3200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CF8C5B-EC61-2369-F2B4-2221CADCDF99}"/>
              </a:ext>
            </a:extLst>
          </p:cNvPr>
          <p:cNvSpPr txBox="1"/>
          <p:nvPr/>
        </p:nvSpPr>
        <p:spPr>
          <a:xfrm>
            <a:off x="457200" y="116128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🌐  API Endpoints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84BDC1-8953-0B37-9A85-98270D247F77}"/>
              </a:ext>
            </a:extLst>
          </p:cNvPr>
          <p:cNvSpPr/>
          <p:nvPr/>
        </p:nvSpPr>
        <p:spPr>
          <a:xfrm>
            <a:off x="365760" y="1664208"/>
            <a:ext cx="5212080" cy="74980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329646-E380-2A0A-1D21-C1C165AE0EF8}"/>
              </a:ext>
            </a:extLst>
          </p:cNvPr>
          <p:cNvSpPr/>
          <p:nvPr/>
        </p:nvSpPr>
        <p:spPr>
          <a:xfrm>
            <a:off x="411480" y="1719072"/>
            <a:ext cx="65836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F1507A-36FF-73C4-E324-D95F77A7B2C4}"/>
              </a:ext>
            </a:extLst>
          </p:cNvPr>
          <p:cNvSpPr txBox="1"/>
          <p:nvPr/>
        </p:nvSpPr>
        <p:spPr>
          <a:xfrm>
            <a:off x="466344" y="173736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FC53E9-F29B-CA96-C25C-37F4CCE3280B}"/>
              </a:ext>
            </a:extLst>
          </p:cNvPr>
          <p:cNvSpPr txBox="1"/>
          <p:nvPr/>
        </p:nvSpPr>
        <p:spPr>
          <a:xfrm>
            <a:off x="1143000" y="173736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0B981"/>
                </a:solidFill>
                <a:latin typeface="Calibri"/>
              </a:rPr>
              <a:t>/health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EA9F15-04AA-1290-5F23-0E92408B990F}"/>
              </a:ext>
            </a:extLst>
          </p:cNvPr>
          <p:cNvSpPr txBox="1"/>
          <p:nvPr/>
        </p:nvSpPr>
        <p:spPr>
          <a:xfrm>
            <a:off x="411480" y="2084832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Model load status, model name, API version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E83B20-CEF6-1F26-A0FE-1D5F59D8A3AD}"/>
              </a:ext>
            </a:extLst>
          </p:cNvPr>
          <p:cNvSpPr/>
          <p:nvPr/>
        </p:nvSpPr>
        <p:spPr>
          <a:xfrm>
            <a:off x="365760" y="2542032"/>
            <a:ext cx="5212080" cy="74980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19D74A-08F2-033B-B3A0-AC228DCB9D95}"/>
              </a:ext>
            </a:extLst>
          </p:cNvPr>
          <p:cNvSpPr/>
          <p:nvPr/>
        </p:nvSpPr>
        <p:spPr>
          <a:xfrm>
            <a:off x="411480" y="2596896"/>
            <a:ext cx="65836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C46CC6-CBCE-54EF-E4EB-7ABC31703A04}"/>
              </a:ext>
            </a:extLst>
          </p:cNvPr>
          <p:cNvSpPr txBox="1"/>
          <p:nvPr/>
        </p:nvSpPr>
        <p:spPr>
          <a:xfrm>
            <a:off x="466344" y="261518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B10482-3116-70A4-21CC-9661AB37595B}"/>
              </a:ext>
            </a:extLst>
          </p:cNvPr>
          <p:cNvSpPr txBox="1"/>
          <p:nvPr/>
        </p:nvSpPr>
        <p:spPr>
          <a:xfrm>
            <a:off x="1143000" y="261518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/predict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1C768D-F85C-B703-CD63-220E9512E721}"/>
              </a:ext>
            </a:extLst>
          </p:cNvPr>
          <p:cNvSpPr txBox="1"/>
          <p:nvPr/>
        </p:nvSpPr>
        <p:spPr>
          <a:xfrm>
            <a:off x="411479" y="2962656"/>
            <a:ext cx="5212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Accepts 13 earthquake params → returns prediction + confidence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4D05EF-CE73-899D-761B-AE6B8D556F77}"/>
              </a:ext>
            </a:extLst>
          </p:cNvPr>
          <p:cNvSpPr/>
          <p:nvPr/>
        </p:nvSpPr>
        <p:spPr>
          <a:xfrm>
            <a:off x="365760" y="3419856"/>
            <a:ext cx="5212080" cy="74980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19C1C9-832A-2353-A710-A9FEBA20E577}"/>
              </a:ext>
            </a:extLst>
          </p:cNvPr>
          <p:cNvSpPr/>
          <p:nvPr/>
        </p:nvSpPr>
        <p:spPr>
          <a:xfrm>
            <a:off x="411480" y="3474720"/>
            <a:ext cx="658368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408D95-536F-B882-66B8-50A6023433C4}"/>
              </a:ext>
            </a:extLst>
          </p:cNvPr>
          <p:cNvSpPr txBox="1"/>
          <p:nvPr/>
        </p:nvSpPr>
        <p:spPr>
          <a:xfrm>
            <a:off x="466344" y="34930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AA2E13-E52B-3A81-4827-2D7521248814}"/>
              </a:ext>
            </a:extLst>
          </p:cNvPr>
          <p:cNvSpPr txBox="1"/>
          <p:nvPr/>
        </p:nvSpPr>
        <p:spPr>
          <a:xfrm>
            <a:off x="1143000" y="3493008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B6D4"/>
                </a:solidFill>
                <a:latin typeface="Calibri"/>
              </a:rPr>
              <a:t>/model-info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705E27-8215-5F71-F8BF-E9A06E130C93}"/>
              </a:ext>
            </a:extLst>
          </p:cNvPr>
          <p:cNvSpPr txBox="1"/>
          <p:nvPr/>
        </p:nvSpPr>
        <p:spPr>
          <a:xfrm>
            <a:off x="411480" y="3840480"/>
            <a:ext cx="5074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Returns metadata, hyperparameters, metrics, feature importance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4D0224-D0B7-21B8-8FF8-FBD1983D5BFC}"/>
              </a:ext>
            </a:extLst>
          </p:cNvPr>
          <p:cNvSpPr/>
          <p:nvPr/>
        </p:nvSpPr>
        <p:spPr>
          <a:xfrm>
            <a:off x="274320" y="4477014"/>
            <a:ext cx="5394960" cy="20482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417D5D-DB93-0827-88A5-4C710A6CB5B5}"/>
              </a:ext>
            </a:extLst>
          </p:cNvPr>
          <p:cNvSpPr txBox="1"/>
          <p:nvPr/>
        </p:nvSpPr>
        <p:spPr>
          <a:xfrm>
            <a:off x="457200" y="450799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📋  </a:t>
            </a:r>
            <a:r>
              <a:rPr sz="1400" b="1" i="0" dirty="0" err="1">
                <a:solidFill>
                  <a:schemeClr val="bg2">
                    <a:lumMod val="25000"/>
                  </a:schemeClr>
                </a:solidFill>
                <a:latin typeface="Calibri"/>
              </a:rPr>
              <a:t>PredictionRequest</a:t>
            </a:r>
            <a:r>
              <a:rPr sz="1400" b="1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 Schema (13 fields)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8912A5-F169-EF00-CEA1-B6AC94818DED}"/>
              </a:ext>
            </a:extLst>
          </p:cNvPr>
          <p:cNvSpPr txBox="1"/>
          <p:nvPr/>
        </p:nvSpPr>
        <p:spPr>
          <a:xfrm>
            <a:off x="411480" y="4956048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magnitude  •  cdi  •  mmi  •  sig  •  </a:t>
            </a:r>
            <a:r>
              <a:rPr sz="1400" b="0" i="0" dirty="0" err="1">
                <a:latin typeface="Calibri"/>
              </a:rPr>
              <a:t>nst</a:t>
            </a:r>
            <a:r>
              <a:rPr sz="1400" b="0" i="0" dirty="0">
                <a:latin typeface="Calibri"/>
              </a:rPr>
              <a:t>  •  </a:t>
            </a:r>
            <a:r>
              <a:rPr sz="1400" b="0" i="0" dirty="0" err="1">
                <a:latin typeface="Calibri"/>
              </a:rPr>
              <a:t>dmin</a:t>
            </a:r>
            <a:r>
              <a:rPr sz="1400" b="0" i="0" dirty="0">
                <a:latin typeface="Calibri"/>
              </a:rPr>
              <a:t>  •  gap  •  depth  •  latitude  •  longitude  •  alert  •  </a:t>
            </a:r>
            <a:r>
              <a:rPr sz="1400" b="0" i="0" dirty="0" err="1">
                <a:latin typeface="Calibri"/>
              </a:rPr>
              <a:t>magType</a:t>
            </a:r>
            <a:r>
              <a:rPr sz="1400" b="0" i="0" dirty="0">
                <a:latin typeface="Calibri"/>
              </a:rPr>
              <a:t>  •  net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BA471C-FFA2-A073-1A8F-5C94A8832F7D}"/>
              </a:ext>
            </a:extLst>
          </p:cNvPr>
          <p:cNvSpPr txBox="1"/>
          <p:nvPr/>
        </p:nvSpPr>
        <p:spPr>
          <a:xfrm>
            <a:off x="411479" y="5616702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latin typeface="Calibri"/>
              </a:rPr>
              <a:t>Validated by </a:t>
            </a:r>
            <a:r>
              <a:rPr sz="1200" b="0" i="1" dirty="0" err="1">
                <a:latin typeface="Calibri"/>
              </a:rPr>
              <a:t>Pydantic</a:t>
            </a:r>
            <a:r>
              <a:rPr sz="1200" b="0" i="1" dirty="0">
                <a:latin typeface="Calibri"/>
              </a:rPr>
              <a:t> </a:t>
            </a:r>
            <a:r>
              <a:rPr sz="1200" b="0" i="1" dirty="0" err="1">
                <a:latin typeface="Calibri"/>
              </a:rPr>
              <a:t>BaseModel</a:t>
            </a:r>
            <a:r>
              <a:rPr sz="1200" b="0" i="1" dirty="0">
                <a:latin typeface="Calibri"/>
              </a:rPr>
              <a:t> with field-level constraints (</a:t>
            </a:r>
            <a:r>
              <a:rPr sz="1200" b="0" i="1" dirty="0" err="1">
                <a:latin typeface="Calibri"/>
              </a:rPr>
              <a:t>ge</a:t>
            </a:r>
            <a:r>
              <a:rPr sz="1200" b="0" i="1" dirty="0">
                <a:latin typeface="Calibri"/>
              </a:rPr>
              <a:t>, le, description)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A88ECB-4156-9F94-250F-AAAC31703356}"/>
              </a:ext>
            </a:extLst>
          </p:cNvPr>
          <p:cNvSpPr txBox="1"/>
          <p:nvPr/>
        </p:nvSpPr>
        <p:spPr>
          <a:xfrm>
            <a:off x="411479" y="6017265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latin typeface="Calibri"/>
              </a:rPr>
              <a:t>Source: backend/app/schemas/schemas.py — </a:t>
            </a:r>
            <a:r>
              <a:rPr sz="1200" b="0" i="1" dirty="0" err="1">
                <a:latin typeface="Calibri"/>
              </a:rPr>
              <a:t>PredictionRequest</a:t>
            </a:r>
            <a:endParaRPr sz="1200" b="0" i="1" dirty="0">
              <a:latin typeface="Calibri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9EBF5E-0D87-C1B4-AB24-14442DC936F9}"/>
              </a:ext>
            </a:extLst>
          </p:cNvPr>
          <p:cNvSpPr/>
          <p:nvPr/>
        </p:nvSpPr>
        <p:spPr>
          <a:xfrm>
            <a:off x="5897880" y="1108503"/>
            <a:ext cx="5989320" cy="3200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1CC2B2-D468-7E4C-5E85-7D52FD1DB2EA}"/>
              </a:ext>
            </a:extLst>
          </p:cNvPr>
          <p:cNvSpPr txBox="1"/>
          <p:nvPr/>
        </p:nvSpPr>
        <p:spPr>
          <a:xfrm>
            <a:off x="6080760" y="1161288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0B981"/>
                </a:solidFill>
                <a:latin typeface="Calibri"/>
              </a:rPr>
              <a:t>📤  </a:t>
            </a:r>
            <a:r>
              <a:rPr sz="1400" b="1" i="0" dirty="0" err="1">
                <a:solidFill>
                  <a:srgbClr val="10B981"/>
                </a:solidFill>
                <a:latin typeface="Calibri"/>
              </a:rPr>
              <a:t>PredictionResponse</a:t>
            </a:r>
            <a:endParaRPr sz="1400" b="1" i="0" dirty="0">
              <a:solidFill>
                <a:srgbClr val="10B981"/>
              </a:solidFill>
              <a:latin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90E3DC-9625-2AFD-E4E8-38CEC8AAA5B7}"/>
              </a:ext>
            </a:extLst>
          </p:cNvPr>
          <p:cNvSpPr txBox="1"/>
          <p:nvPr/>
        </p:nvSpPr>
        <p:spPr>
          <a:xfrm>
            <a:off x="6080760" y="166420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B6D4"/>
                </a:solidFill>
                <a:latin typeface="Calibri"/>
              </a:rPr>
              <a:t>▸  prediction: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380601-E846-1700-086B-441CDB34AF7E}"/>
              </a:ext>
            </a:extLst>
          </p:cNvPr>
          <p:cNvSpPr txBox="1"/>
          <p:nvPr/>
        </p:nvSpPr>
        <p:spPr>
          <a:xfrm>
            <a:off x="8183879" y="166420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0 or 1 (binary class)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535C87-F628-F0A7-62FA-32312FA0AF5B}"/>
              </a:ext>
            </a:extLst>
          </p:cNvPr>
          <p:cNvSpPr txBox="1"/>
          <p:nvPr/>
        </p:nvSpPr>
        <p:spPr>
          <a:xfrm>
            <a:off x="6080760" y="210312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B6D4"/>
                </a:solidFill>
                <a:latin typeface="Calibri"/>
              </a:rPr>
              <a:t>▸  result: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49AD67-40C3-9138-7AB6-FD2EEDA86D5C}"/>
              </a:ext>
            </a:extLst>
          </p:cNvPr>
          <p:cNvSpPr txBox="1"/>
          <p:nvPr/>
        </p:nvSpPr>
        <p:spPr>
          <a:xfrm>
            <a:off x="8183879" y="2017705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"Tsunami Occurrence Predicted" or "No Tsunami Occurrence"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D16493-883D-1104-418A-064256F2C625}"/>
              </a:ext>
            </a:extLst>
          </p:cNvPr>
          <p:cNvSpPr txBox="1"/>
          <p:nvPr/>
        </p:nvSpPr>
        <p:spPr>
          <a:xfrm>
            <a:off x="6080760" y="254203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B6D4"/>
                </a:solidFill>
                <a:latin typeface="Calibri"/>
              </a:rPr>
              <a:t>▸  probability: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88D6E0-4B47-D59B-7A59-3CD7419B7D1C}"/>
              </a:ext>
            </a:extLst>
          </p:cNvPr>
          <p:cNvSpPr txBox="1"/>
          <p:nvPr/>
        </p:nvSpPr>
        <p:spPr>
          <a:xfrm>
            <a:off x="8183879" y="2542032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chemeClr val="bg2">
                    <a:lumMod val="25000"/>
                  </a:schemeClr>
                </a:solidFill>
                <a:latin typeface="Calibri"/>
              </a:rPr>
              <a:t>predict_proba</a:t>
            </a:r>
            <a:r>
              <a:rPr sz="1400" b="0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() value for predicted class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B8B4E3-42D9-7A11-F99D-EF7B5E763D26}"/>
              </a:ext>
            </a:extLst>
          </p:cNvPr>
          <p:cNvSpPr txBox="1"/>
          <p:nvPr/>
        </p:nvSpPr>
        <p:spPr>
          <a:xfrm>
            <a:off x="6080760" y="2980944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400" b="1" i="0" dirty="0" err="1">
                <a:solidFill>
                  <a:srgbClr val="06B6D4"/>
                </a:solidFill>
                <a:latin typeface="Calibri"/>
              </a:rPr>
              <a:t>confidence_label</a:t>
            </a:r>
            <a:r>
              <a:rPr sz="1400" b="1" i="0" dirty="0">
                <a:solidFill>
                  <a:srgbClr val="06B6D4"/>
                </a:solidFill>
                <a:latin typeface="Calibri"/>
              </a:rPr>
              <a:t>: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49821C-0905-3F3A-1182-680CF0D2A997}"/>
              </a:ext>
            </a:extLst>
          </p:cNvPr>
          <p:cNvSpPr txBox="1"/>
          <p:nvPr/>
        </p:nvSpPr>
        <p:spPr>
          <a:xfrm>
            <a:off x="8183879" y="2922961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High / Moderate / Low  (thresholds: 0.85 / 0.65)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022B738-28A0-B196-E5DC-B84AEBFAC8D0}"/>
              </a:ext>
            </a:extLst>
          </p:cNvPr>
          <p:cNvSpPr txBox="1"/>
          <p:nvPr/>
        </p:nvSpPr>
        <p:spPr>
          <a:xfrm>
            <a:off x="6080760" y="341985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B6D4"/>
                </a:solidFill>
                <a:latin typeface="Calibri"/>
              </a:rPr>
              <a:t>▸  model: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83E0D7-3DBF-65B7-F639-5B3012EB2132}"/>
              </a:ext>
            </a:extLst>
          </p:cNvPr>
          <p:cNvSpPr txBox="1"/>
          <p:nvPr/>
        </p:nvSpPr>
        <p:spPr>
          <a:xfrm>
            <a:off x="8183879" y="3419856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Name of best selected model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0665DC-6734-09A3-877F-B60CF11A4CD7}"/>
              </a:ext>
            </a:extLst>
          </p:cNvPr>
          <p:cNvSpPr txBox="1"/>
          <p:nvPr/>
        </p:nvSpPr>
        <p:spPr>
          <a:xfrm>
            <a:off x="6080760" y="385876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B6D4"/>
                </a:solidFill>
                <a:latin typeface="Calibri"/>
              </a:rPr>
              <a:t>▸  disclaimer: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735B51-C04B-A61E-C72D-6642F4348A28}"/>
              </a:ext>
            </a:extLst>
          </p:cNvPr>
          <p:cNvSpPr txBox="1"/>
          <p:nvPr/>
        </p:nvSpPr>
        <p:spPr>
          <a:xfrm>
            <a:off x="8183879" y="385876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Educational use only — not official warning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195687F-E498-7563-C6F1-1F8470B4E925}"/>
              </a:ext>
            </a:extLst>
          </p:cNvPr>
          <p:cNvSpPr/>
          <p:nvPr/>
        </p:nvSpPr>
        <p:spPr>
          <a:xfrm>
            <a:off x="5897880" y="4462272"/>
            <a:ext cx="5989320" cy="20482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347DD3F-1F9A-E713-52D7-A805513138C3}"/>
              </a:ext>
            </a:extLst>
          </p:cNvPr>
          <p:cNvSpPr txBox="1"/>
          <p:nvPr/>
        </p:nvSpPr>
        <p:spPr>
          <a:xfrm>
            <a:off x="6080760" y="4507992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59E0B"/>
                </a:solidFill>
                <a:latin typeface="Calibri"/>
              </a:rPr>
              <a:t>🖥️  Prediction Interface (Conceptual)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C2C6E56-627E-AD13-133D-3311B1C5A7BC}"/>
              </a:ext>
            </a:extLst>
          </p:cNvPr>
          <p:cNvSpPr txBox="1"/>
          <p:nvPr/>
        </p:nvSpPr>
        <p:spPr>
          <a:xfrm>
            <a:off x="6080760" y="4937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[ Magnitude: ___  CDI: ___  Depth: ___  Alert: ▼  … ]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DDFFD2D-2DB5-D8B8-E3DE-1D5C5D146213}"/>
              </a:ext>
            </a:extLst>
          </p:cNvPr>
          <p:cNvSpPr/>
          <p:nvPr/>
        </p:nvSpPr>
        <p:spPr>
          <a:xfrm>
            <a:off x="6606073" y="5088636"/>
            <a:ext cx="4366727" cy="6446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14A7C9B-B6AD-F494-51B4-10B522E6338C}"/>
              </a:ext>
            </a:extLst>
          </p:cNvPr>
          <p:cNvSpPr txBox="1"/>
          <p:nvPr/>
        </p:nvSpPr>
        <p:spPr>
          <a:xfrm>
            <a:off x="6732036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Predict Tsunami Risk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8B18D7F-B52A-6813-CAA8-AA9330C7991D}"/>
              </a:ext>
            </a:extLst>
          </p:cNvPr>
          <p:cNvSpPr txBox="1"/>
          <p:nvPr/>
        </p:nvSpPr>
        <p:spPr>
          <a:xfrm>
            <a:off x="6080760" y="5833872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F4444"/>
                </a:solidFill>
                <a:latin typeface="Calibri"/>
              </a:rPr>
              <a:t>→  TSUNAMI OCCURRENCE PREDICTED  (High Confidence: 0.92)</a:t>
            </a:r>
          </a:p>
        </p:txBody>
      </p:sp>
    </p:spTree>
    <p:extLst>
      <p:ext uri="{BB962C8B-B14F-4D97-AF65-F5344CB8AC3E}">
        <p14:creationId xmlns:p14="http://schemas.microsoft.com/office/powerpoint/2010/main" val="383553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6F46A29-07A6-34FC-3CF8-B0E76F0106D9}"/>
              </a:ext>
            </a:extLst>
          </p:cNvPr>
          <p:cNvSpPr txBox="1"/>
          <p:nvPr/>
        </p:nvSpPr>
        <p:spPr>
          <a:xfrm>
            <a:off x="22860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Conclusion &amp; Future 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419B0-139B-5DBA-A4C2-23A6A7415C58}"/>
              </a:ext>
            </a:extLst>
          </p:cNvPr>
          <p:cNvSpPr txBox="1"/>
          <p:nvPr/>
        </p:nvSpPr>
        <p:spPr>
          <a:xfrm>
            <a:off x="228600" y="658368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End-to-end ML pipeline for earthquake-based tsunami risk classification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9EF0F8-AFA9-7049-6D76-1F6211E5BEA5}"/>
              </a:ext>
            </a:extLst>
          </p:cNvPr>
          <p:cNvSpPr/>
          <p:nvPr/>
        </p:nvSpPr>
        <p:spPr>
          <a:xfrm>
            <a:off x="274320" y="1115568"/>
            <a:ext cx="5394960" cy="5394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144D46-8568-66B0-4323-7FFFA2F97989}"/>
              </a:ext>
            </a:extLst>
          </p:cNvPr>
          <p:cNvSpPr txBox="1"/>
          <p:nvPr/>
        </p:nvSpPr>
        <p:spPr>
          <a:xfrm>
            <a:off x="457200" y="11612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B981"/>
                </a:solidFill>
                <a:latin typeface="+mj-lt"/>
              </a:rPr>
              <a:t>✅  Conclusion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78D72F-BAB0-A5D6-BAA8-CE290844247B}"/>
              </a:ext>
            </a:extLst>
          </p:cNvPr>
          <p:cNvSpPr txBox="1"/>
          <p:nvPr/>
        </p:nvSpPr>
        <p:spPr>
          <a:xfrm>
            <a:off x="502920" y="1700784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Developed complete end-to-end ML pipeline for tsunami risk binary classification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D3BABF-D86B-904B-67B8-186A115586B7}"/>
              </a:ext>
            </a:extLst>
          </p:cNvPr>
          <p:cNvSpPr txBox="1"/>
          <p:nvPr/>
        </p:nvSpPr>
        <p:spPr>
          <a:xfrm>
            <a:off x="502920" y="2304288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Dataset: USGS earthquake catalogue (earthquake_1995-2023.csv)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9C20EE-82F5-5C88-8E0E-C5FE91A54154}"/>
              </a:ext>
            </a:extLst>
          </p:cNvPr>
          <p:cNvSpPr txBox="1"/>
          <p:nvPr/>
        </p:nvSpPr>
        <p:spPr>
          <a:xfrm>
            <a:off x="502920" y="290779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Preprocessing: duplicate removal, median/mode imputation, Z-score outlier treatment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61310C-85AA-AA5B-F5C5-A12AFAE2DCA2}"/>
              </a:ext>
            </a:extLst>
          </p:cNvPr>
          <p:cNvSpPr txBox="1"/>
          <p:nvPr/>
        </p:nvSpPr>
        <p:spPr>
          <a:xfrm>
            <a:off x="502920" y="3511296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Class imbalance addressed using SMOTE on training data only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BCDA8B-8954-A244-5331-96CDA15C6F81}"/>
              </a:ext>
            </a:extLst>
          </p:cNvPr>
          <p:cNvSpPr txBox="1"/>
          <p:nvPr/>
        </p:nvSpPr>
        <p:spPr>
          <a:xfrm>
            <a:off x="502920" y="411480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Three classifiers trained: Decision Tree, Random Forest, </a:t>
            </a:r>
            <a:r>
              <a:rPr sz="14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XGBoost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845F14-033B-0341-29A0-7BC99C042D60}"/>
              </a:ext>
            </a:extLst>
          </p:cNvPr>
          <p:cNvSpPr txBox="1"/>
          <p:nvPr/>
        </p:nvSpPr>
        <p:spPr>
          <a:xfrm>
            <a:off x="502920" y="4718304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Hyperparameter tuning via </a:t>
            </a:r>
            <a:r>
              <a:rPr sz="14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RandomizedSearchCV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(20 iterations, 5-fold CV)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E91EA6-100F-50B7-2F1D-84C2F12657C9}"/>
              </a:ext>
            </a:extLst>
          </p:cNvPr>
          <p:cNvSpPr txBox="1"/>
          <p:nvPr/>
        </p:nvSpPr>
        <p:spPr>
          <a:xfrm>
            <a:off x="502920" y="5321808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Best model selected by cross-validation accuracy and saved as </a:t>
            </a:r>
            <a:r>
              <a:rPr sz="14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tsunami_model.pkl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9A7A5C-8E2A-5207-0A82-CEAD2BACBAB4}"/>
              </a:ext>
            </a:extLst>
          </p:cNvPr>
          <p:cNvSpPr txBox="1"/>
          <p:nvPr/>
        </p:nvSpPr>
        <p:spPr>
          <a:xfrm>
            <a:off x="502920" y="592531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▸  Deployed as a </a:t>
            </a:r>
            <a:r>
              <a:rPr sz="14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FastAPI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REST service with structured </a:t>
            </a:r>
            <a:r>
              <a:rPr sz="14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Pydantic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request/response schemas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CD66D02-4AAA-B592-79DA-FFA63346E847}"/>
              </a:ext>
            </a:extLst>
          </p:cNvPr>
          <p:cNvSpPr/>
          <p:nvPr/>
        </p:nvSpPr>
        <p:spPr>
          <a:xfrm>
            <a:off x="5897880" y="1115568"/>
            <a:ext cx="5989320" cy="5394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8A7F63-36EC-32A6-96D7-EEB8B37008A3}"/>
              </a:ext>
            </a:extLst>
          </p:cNvPr>
          <p:cNvSpPr txBox="1"/>
          <p:nvPr/>
        </p:nvSpPr>
        <p:spPr>
          <a:xfrm>
            <a:off x="6080760" y="1161288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6B6D4"/>
                </a:solidFill>
                <a:latin typeface="+mj-lt"/>
              </a:rPr>
              <a:t>🚀  Future Scope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313D72-5716-63D8-DD43-7B6872BAC3D1}"/>
              </a:ext>
            </a:extLst>
          </p:cNvPr>
          <p:cNvSpPr txBox="1"/>
          <p:nvPr/>
        </p:nvSpPr>
        <p:spPr>
          <a:xfrm>
            <a:off x="6126480" y="170992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3B82F6"/>
                </a:solidFill>
                <a:latin typeface="+mj-lt"/>
              </a:rPr>
              <a:t>Real-Time Data Integration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466FBF-F9A5-381F-956B-35E3D8148D94}"/>
              </a:ext>
            </a:extLst>
          </p:cNvPr>
          <p:cNvSpPr txBox="1"/>
          <p:nvPr/>
        </p:nvSpPr>
        <p:spPr>
          <a:xfrm>
            <a:off x="6126480" y="202996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Connect to USGS real-time earthquake feed for live predictions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CC0046-085E-5711-AB7B-72B68F5FB1D3}"/>
              </a:ext>
            </a:extLst>
          </p:cNvPr>
          <p:cNvSpPr txBox="1"/>
          <p:nvPr/>
        </p:nvSpPr>
        <p:spPr>
          <a:xfrm>
            <a:off x="6126480" y="2496312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8B5CF6"/>
                </a:solidFill>
                <a:latin typeface="+mj-lt"/>
              </a:rPr>
              <a:t>Deep Learning Models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124965-ED24-65F6-B448-D7B948521D87}"/>
              </a:ext>
            </a:extLst>
          </p:cNvPr>
          <p:cNvSpPr txBox="1"/>
          <p:nvPr/>
        </p:nvSpPr>
        <p:spPr>
          <a:xfrm>
            <a:off x="6126480" y="28163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Explore LSTM / Transformer architectures for temporal seismic patterns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CE71F8-9BB8-FFED-D237-3818E3C69031}"/>
              </a:ext>
            </a:extLst>
          </p:cNvPr>
          <p:cNvSpPr txBox="1"/>
          <p:nvPr/>
        </p:nvSpPr>
        <p:spPr>
          <a:xfrm>
            <a:off x="6126480" y="328269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0B981"/>
                </a:solidFill>
                <a:latin typeface="+mj-lt"/>
              </a:rPr>
              <a:t>Geographic </a:t>
            </a:r>
            <a:r>
              <a:rPr sz="1600" b="1" i="0" dirty="0" err="1">
                <a:solidFill>
                  <a:srgbClr val="10B981"/>
                </a:solidFill>
                <a:latin typeface="+mj-lt"/>
              </a:rPr>
              <a:t>Visualisation</a:t>
            </a:r>
            <a:endParaRPr sz="1600" b="1" i="0" dirty="0">
              <a:solidFill>
                <a:srgbClr val="10B981"/>
              </a:solidFill>
              <a:latin typeface="+mj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8B13C1-4128-28DE-CD73-617D1188D580}"/>
              </a:ext>
            </a:extLst>
          </p:cNvPr>
          <p:cNvSpPr txBox="1"/>
          <p:nvPr/>
        </p:nvSpPr>
        <p:spPr>
          <a:xfrm>
            <a:off x="6126480" y="360273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Map-based risk overlay showing predicted tsunami zones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527AB3-A3B3-A9F4-47AB-DC364EBF3929}"/>
              </a:ext>
            </a:extLst>
          </p:cNvPr>
          <p:cNvSpPr txBox="1"/>
          <p:nvPr/>
        </p:nvSpPr>
        <p:spPr>
          <a:xfrm>
            <a:off x="6126480" y="406908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9E0B"/>
                </a:solidFill>
                <a:latin typeface="+mj-lt"/>
              </a:rPr>
              <a:t>Probability Calibration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CDF1A06-E0FA-6DC0-8CF5-9E02448FBE73}"/>
              </a:ext>
            </a:extLst>
          </p:cNvPr>
          <p:cNvSpPr txBox="1"/>
          <p:nvPr/>
        </p:nvSpPr>
        <p:spPr>
          <a:xfrm>
            <a:off x="6126480" y="438912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Isotonic/Platt calibration for better-calibrated probability outputs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328577-5CEA-2AAF-C5A4-23392936322B}"/>
              </a:ext>
            </a:extLst>
          </p:cNvPr>
          <p:cNvSpPr txBox="1"/>
          <p:nvPr/>
        </p:nvSpPr>
        <p:spPr>
          <a:xfrm>
            <a:off x="6126480" y="4855464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F4444"/>
                </a:solidFill>
                <a:latin typeface="+mj-lt"/>
              </a:rPr>
              <a:t>Cloud Deployment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0B5E30-E76D-8710-D014-C31F1EC0CD3D}"/>
              </a:ext>
            </a:extLst>
          </p:cNvPr>
          <p:cNvSpPr txBox="1"/>
          <p:nvPr/>
        </p:nvSpPr>
        <p:spPr>
          <a:xfrm>
            <a:off x="6126480" y="517550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Deploy as a scalable cloud service (AWS/GCP) for broader access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2982AA-2072-A8F5-B1E6-C465A7530C26}"/>
              </a:ext>
            </a:extLst>
          </p:cNvPr>
          <p:cNvSpPr txBox="1"/>
          <p:nvPr/>
        </p:nvSpPr>
        <p:spPr>
          <a:xfrm>
            <a:off x="6126480" y="564184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6B6D4"/>
                </a:solidFill>
                <a:latin typeface="+mj-lt"/>
              </a:rPr>
              <a:t>Explainability (XAI)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D2E2962-9E03-35A1-6C87-D246160C4C28}"/>
              </a:ext>
            </a:extLst>
          </p:cNvPr>
          <p:cNvSpPr txBox="1"/>
          <p:nvPr/>
        </p:nvSpPr>
        <p:spPr>
          <a:xfrm>
            <a:off x="6126480" y="596188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SHAP values for feature-level explanation of individual predictions</a:t>
            </a:r>
          </a:p>
        </p:txBody>
      </p:sp>
    </p:spTree>
    <p:extLst>
      <p:ext uri="{BB962C8B-B14F-4D97-AF65-F5344CB8AC3E}">
        <p14:creationId xmlns:p14="http://schemas.microsoft.com/office/powerpoint/2010/main" val="193902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74FD-0AC1-9E67-FDA3-AEC94B9A9E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687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cean painting presentation (widescreen).potx" id="{7D8F5DB3-F878-46D5-AF2D-2DD5B7369221}" vid="{9251DF30-C224-466C-9BFA-3064FAD55731}"/>
    </a:ext>
  </a:extLst>
</a:theme>
</file>

<file path=ppt/theme/theme2.xml><?xml version="1.0" encoding="utf-8"?>
<a:theme xmlns:a="http://schemas.openxmlformats.org/drawingml/2006/main" name="Office Them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 painting presentation (widescreen)</Template>
  <TotalTime>897</TotalTime>
  <Words>1877</Words>
  <Application>Microsoft Office PowerPoint</Application>
  <PresentationFormat>Widescreen</PresentationFormat>
  <Paragraphs>326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Ocean 16x9</vt:lpstr>
      <vt:lpstr>Earthquake-Based Tsunami Risk Prediction System Using Machine Learning</vt:lpstr>
      <vt:lpstr>Introduction</vt:lpstr>
      <vt:lpstr>Problem Statement Supervised Binary Classification of Tsunami Risk from Earthquake Data</vt:lpstr>
      <vt:lpstr>PowerPoint Presentation</vt:lpstr>
      <vt:lpstr>Dataset &amp; Features </vt:lpstr>
      <vt:lpstr>PowerPoint Presentation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sheersh k</dc:creator>
  <cp:lastModifiedBy>sheersh k</cp:lastModifiedBy>
  <cp:revision>8</cp:revision>
  <dcterms:created xsi:type="dcterms:W3CDTF">2026-09-14T11:56:12Z</dcterms:created>
  <dcterms:modified xsi:type="dcterms:W3CDTF">2026-09-23T07:16:27Z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